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20104100" cy="11303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3" name="Shape 6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g object 16"/>
          <p:cNvSpPr/>
          <p:nvPr/>
        </p:nvSpPr>
        <p:spPr>
          <a:xfrm>
            <a:off x="6573097" y="3683134"/>
            <a:ext cx="6934346" cy="121724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" name="Title Text"/>
          <p:cNvSpPr txBox="1"/>
          <p:nvPr>
            <p:ph type="title"/>
          </p:nvPr>
        </p:nvSpPr>
        <p:spPr>
          <a:xfrm>
            <a:off x="6466985" y="3362850"/>
            <a:ext cx="6955791" cy="1478280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13" name="Body Level One…"/>
          <p:cNvSpPr txBox="1"/>
          <p:nvPr>
            <p:ph type="body" sz="quarter" idx="1"/>
          </p:nvPr>
        </p:nvSpPr>
        <p:spPr>
          <a:xfrm>
            <a:off x="3015614" y="6333235"/>
            <a:ext cx="14072871" cy="282733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Text"/>
          <p:cNvSpPr txBox="1"/>
          <p:nvPr>
            <p:ph type="title"/>
          </p:nvPr>
        </p:nvSpPr>
        <p:spPr>
          <a:xfrm>
            <a:off x="912419" y="535057"/>
            <a:ext cx="10010768" cy="1026795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22" name="Body Level One…"/>
          <p:cNvSpPr txBox="1"/>
          <p:nvPr>
            <p:ph type="body" sz="half" idx="1"/>
          </p:nvPr>
        </p:nvSpPr>
        <p:spPr>
          <a:xfrm>
            <a:off x="10366175" y="3376860"/>
            <a:ext cx="8458201" cy="550545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 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/>
          <p:nvPr>
            <p:ph type="title"/>
          </p:nvPr>
        </p:nvSpPr>
        <p:spPr>
          <a:xfrm>
            <a:off x="912419" y="535057"/>
            <a:ext cx="10010768" cy="1026795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1" name="Body Level One…"/>
          <p:cNvSpPr txBox="1"/>
          <p:nvPr>
            <p:ph type="body" sz="half" idx="1"/>
          </p:nvPr>
        </p:nvSpPr>
        <p:spPr>
          <a:xfrm>
            <a:off x="10366175" y="3376860"/>
            <a:ext cx="8458201" cy="550545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 Text"/>
          <p:cNvSpPr txBox="1"/>
          <p:nvPr>
            <p:ph type="title"/>
          </p:nvPr>
        </p:nvSpPr>
        <p:spPr>
          <a:xfrm>
            <a:off x="912419" y="535057"/>
            <a:ext cx="10010768" cy="1026795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0" name="Body Level One…"/>
          <p:cNvSpPr txBox="1"/>
          <p:nvPr>
            <p:ph type="body" sz="half" idx="1"/>
          </p:nvPr>
        </p:nvSpPr>
        <p:spPr>
          <a:xfrm>
            <a:off x="1005205" y="2601149"/>
            <a:ext cx="8745285" cy="7464172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/>
          <p:nvPr>
            <p:ph type="title"/>
          </p:nvPr>
        </p:nvSpPr>
        <p:spPr>
          <a:xfrm>
            <a:off x="912419" y="535057"/>
            <a:ext cx="10010768" cy="1026795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005205" y="452643"/>
            <a:ext cx="18093690" cy="21847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1005205" y="2637366"/>
            <a:ext cx="18093690" cy="8665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8831923" y="10517695"/>
            <a:ext cx="266974" cy="2794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>
            <a:lvl1pPr algn="r">
              <a:defRPr>
                <a:solidFill>
                  <a:srgbClr val="888888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6500" u="none">
          <a:solidFill>
            <a:srgbClr val="FFFFFF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457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914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1371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18288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22860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27432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32004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365760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bject 2"/>
          <p:cNvSpPr/>
          <p:nvPr/>
        </p:nvSpPr>
        <p:spPr>
          <a:xfrm>
            <a:off x="15707" y="2874258"/>
            <a:ext cx="20080539" cy="871703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" name="object 3"/>
          <p:cNvSpPr txBox="1"/>
          <p:nvPr>
            <p:ph type="title"/>
          </p:nvPr>
        </p:nvSpPr>
        <p:spPr>
          <a:xfrm>
            <a:off x="1900151" y="2548084"/>
            <a:ext cx="16188691" cy="1419861"/>
          </a:xfrm>
          <a:prstGeom prst="rect">
            <a:avLst/>
          </a:prstGeom>
        </p:spPr>
        <p:txBody>
          <a:bodyPr/>
          <a:lstStyle/>
          <a:p>
            <a:pPr indent="11429" defTabSz="822959">
              <a:defRPr spc="-90" sz="8190">
                <a:latin typeface="Avenir Book"/>
                <a:ea typeface="Avenir Book"/>
                <a:cs typeface="Avenir Book"/>
                <a:sym typeface="Avenir Book"/>
              </a:defRPr>
            </a:pPr>
            <a:r>
              <a:t>Pronóstico</a:t>
            </a:r>
            <a:r>
              <a:rPr spc="270"/>
              <a:t> </a:t>
            </a:r>
            <a:r>
              <a:rPr spc="360"/>
              <a:t>de</a:t>
            </a:r>
            <a:r>
              <a:rPr spc="-450"/>
              <a:t> </a:t>
            </a:r>
            <a:r>
              <a:rPr spc="90">
                <a:solidFill>
                  <a:srgbClr val="DFFF9A"/>
                </a:solidFill>
              </a:rPr>
              <a:t>Demanda</a:t>
            </a:r>
            <a:r>
              <a:rPr spc="180">
                <a:solidFill>
                  <a:srgbClr val="DFFF9A"/>
                </a:solidFill>
              </a:rPr>
              <a:t> </a:t>
            </a:r>
            <a:r>
              <a:rPr spc="0">
                <a:solidFill>
                  <a:srgbClr val="DFFF9A"/>
                </a:solidFill>
              </a:rPr>
              <a:t>Eléctrica</a:t>
            </a:r>
          </a:p>
        </p:txBody>
      </p:sp>
      <p:sp>
        <p:nvSpPr>
          <p:cNvPr id="67" name="object 4"/>
          <p:cNvSpPr/>
          <p:nvPr/>
        </p:nvSpPr>
        <p:spPr>
          <a:xfrm>
            <a:off x="15707" y="4256413"/>
            <a:ext cx="20080539" cy="824584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object 5"/>
          <p:cNvSpPr txBox="1"/>
          <p:nvPr/>
        </p:nvSpPr>
        <p:spPr>
          <a:xfrm>
            <a:off x="8908626" y="3882637"/>
            <a:ext cx="2162176" cy="160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-950" sz="92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lvl1pPr>
          </a:lstStyle>
          <a:p>
            <a:pPr/>
            <a:r>
              <a:t>GBA</a:t>
            </a:r>
          </a:p>
        </p:txBody>
      </p:sp>
      <p:sp>
        <p:nvSpPr>
          <p:cNvPr id="69" name="object 6"/>
          <p:cNvSpPr/>
          <p:nvPr/>
        </p:nvSpPr>
        <p:spPr>
          <a:xfrm>
            <a:off x="15707" y="5748516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0" name="object 8"/>
          <p:cNvSpPr txBox="1"/>
          <p:nvPr/>
        </p:nvSpPr>
        <p:spPr>
          <a:xfrm>
            <a:off x="5428665" y="5667922"/>
            <a:ext cx="9222742" cy="421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635" algn="ctr">
              <a:spcBef>
                <a:spcPts val="100"/>
              </a:spcBef>
              <a:defRPr spc="-60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CEIA</a:t>
            </a:r>
            <a:r>
              <a:rPr spc="65"/>
              <a:t> </a:t>
            </a:r>
            <a:r>
              <a:rPr spc="0"/>
              <a:t>-</a:t>
            </a:r>
            <a:r>
              <a:rPr spc="-65"/>
              <a:t> </a:t>
            </a:r>
            <a:r>
              <a:rPr spc="-90"/>
              <a:t>Análisis</a:t>
            </a:r>
            <a:r>
              <a:rPr spc="20"/>
              <a:t> </a:t>
            </a:r>
            <a:r>
              <a:rPr spc="0"/>
              <a:t>de</a:t>
            </a:r>
            <a:r>
              <a:rPr spc="-110"/>
              <a:t> s</a:t>
            </a:r>
            <a:r>
              <a:rPr spc="-104"/>
              <a:t>eries</a:t>
            </a:r>
            <a:r>
              <a:rPr spc="20"/>
              <a:t> </a:t>
            </a:r>
            <a:r>
              <a:rPr spc="0"/>
              <a:t>de</a:t>
            </a:r>
            <a:r>
              <a:rPr spc="-55"/>
              <a:t> t</a:t>
            </a:r>
            <a:r>
              <a:rPr spc="-10"/>
              <a:t>iempo</a:t>
            </a:r>
          </a:p>
          <a:p>
            <a:pPr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algn="ctr">
              <a:defRPr spc="-12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Un</a:t>
            </a:r>
            <a:r>
              <a:rPr spc="-60"/>
              <a:t> </a:t>
            </a:r>
            <a:r>
              <a:rPr spc="0"/>
              <a:t>enfoque</a:t>
            </a:r>
            <a:r>
              <a:rPr spc="-140"/>
              <a:t> </a:t>
            </a:r>
            <a:r>
              <a:rPr spc="0"/>
              <a:t>híbrido</a:t>
            </a:r>
            <a:r>
              <a:rPr spc="-90"/>
              <a:t> </a:t>
            </a:r>
            <a:r>
              <a:rPr spc="0"/>
              <a:t>entre</a:t>
            </a:r>
            <a:r>
              <a:rPr spc="-85"/>
              <a:t> m</a:t>
            </a:r>
            <a:r>
              <a:rPr spc="0"/>
              <a:t>odelos</a:t>
            </a:r>
            <a:r>
              <a:rPr spc="5"/>
              <a:t> e</a:t>
            </a:r>
            <a:r>
              <a:rPr spc="-35"/>
              <a:t>stadísticos</a:t>
            </a:r>
            <a:r>
              <a:rPr spc="175"/>
              <a:t> </a:t>
            </a:r>
            <a:r>
              <a:rPr spc="0"/>
              <a:t>y</a:t>
            </a:r>
            <a:r>
              <a:rPr spc="-95"/>
              <a:t> M</a:t>
            </a:r>
            <a:r>
              <a:rPr spc="0"/>
              <a:t>achine</a:t>
            </a:r>
            <a:r>
              <a:rPr spc="-35"/>
              <a:t> Learning</a:t>
            </a:r>
            <a:endParaRPr spc="-35"/>
          </a:p>
          <a:p>
            <a:pPr algn="ctr">
              <a:defRPr spc="-12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endParaRPr spc="-35"/>
          </a:p>
          <a:p>
            <a:pPr>
              <a:defRPr spc="-12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 spc="-35">
                <a:latin typeface="Avenir Heavy"/>
                <a:ea typeface="Avenir Heavy"/>
                <a:cs typeface="Avenir Heavy"/>
                <a:sym typeface="Avenir Heavy"/>
              </a:rPr>
              <a:t>Integrantes:</a:t>
            </a:r>
            <a:br>
              <a:rPr spc="-35">
                <a:latin typeface="Avenir Heavy"/>
                <a:ea typeface="Avenir Heavy"/>
                <a:cs typeface="Avenir Heavy"/>
                <a:sym typeface="Avenir Heavy"/>
              </a:rPr>
            </a:br>
            <a:r>
              <a:t>Alexis Barniquez</a:t>
            </a:r>
          </a:p>
          <a:p>
            <a:pPr>
              <a:defRPr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Barbara Cerezo</a:t>
            </a:r>
          </a:p>
          <a:p>
            <a:pPr>
              <a:defRPr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Daniel Paniagua</a:t>
            </a:r>
          </a:p>
          <a:p>
            <a:pPr algn="ctr">
              <a:defRPr spc="-12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endParaRPr spc="-35"/>
          </a:p>
        </p:txBody>
      </p:sp>
      <p:pic>
        <p:nvPicPr>
          <p:cNvPr id="71" name="Screenshot 2026-06-15 at 2.26.49 PM.png" descr="Screenshot 2026-06-15 at 2.26.49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557338" y="7593374"/>
            <a:ext cx="3427606" cy="128928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object 8"/>
          <p:cNvSpPr/>
          <p:nvPr/>
        </p:nvSpPr>
        <p:spPr>
          <a:xfrm>
            <a:off x="15707" y="816729"/>
            <a:ext cx="20080539" cy="777464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4" name="object 9"/>
          <p:cNvSpPr txBox="1"/>
          <p:nvPr>
            <p:ph type="title"/>
          </p:nvPr>
        </p:nvSpPr>
        <p:spPr>
          <a:xfrm>
            <a:off x="912418" y="535057"/>
            <a:ext cx="10010769" cy="1026795"/>
          </a:xfrm>
          <a:prstGeom prst="rect">
            <a:avLst/>
          </a:prstGeom>
        </p:spPr>
        <p:txBody>
          <a:bodyPr/>
          <a:lstStyle/>
          <a:p>
            <a:pPr indent="12268" defTabSz="841247">
              <a:defRPr spc="-92" sz="5888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Dataset</a:t>
            </a:r>
            <a:r>
              <a:rPr spc="-184"/>
              <a:t> </a:t>
            </a:r>
            <a:r>
              <a:rPr spc="0"/>
              <a:t>y</a:t>
            </a:r>
            <a:r>
              <a:rPr spc="-460"/>
              <a:t> </a:t>
            </a:r>
            <a:r>
              <a:rPr spc="-184">
                <a:solidFill>
                  <a:srgbClr val="DDFF9A"/>
                </a:solidFill>
              </a:rPr>
              <a:t>Preprocesamiento</a:t>
            </a:r>
          </a:p>
        </p:txBody>
      </p:sp>
      <p:sp>
        <p:nvSpPr>
          <p:cNvPr id="75" name="object 16"/>
          <p:cNvSpPr txBox="1"/>
          <p:nvPr/>
        </p:nvSpPr>
        <p:spPr>
          <a:xfrm>
            <a:off x="1478600" y="2537281"/>
            <a:ext cx="7311391" cy="50831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5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>
              <a:spcBef>
                <a:spcPts val="2300"/>
              </a:spcBef>
              <a:defRPr sz="25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marL="254467" marR="129539" indent="-250657">
              <a:lnSpc>
                <a:spcPct val="121200"/>
              </a:lnSpc>
              <a:buSzPct val="100000"/>
              <a:buChar char="•"/>
              <a:defRPr spc="-20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>
                <a:latin typeface="Avenir Heavy"/>
                <a:ea typeface="Avenir Heavy"/>
                <a:cs typeface="Avenir Heavy"/>
                <a:sym typeface="Avenir Heavy"/>
              </a:rPr>
              <a:t>Origen</a:t>
            </a:r>
            <a:r>
              <a:t>:</a:t>
            </a:r>
            <a:r>
              <a:rPr spc="-160"/>
              <a:t> </a:t>
            </a:r>
            <a:r>
              <a:rPr spc="-25"/>
              <a:t>Datos</a:t>
            </a:r>
            <a:r>
              <a:rPr spc="-95"/>
              <a:t> </a:t>
            </a:r>
            <a:r>
              <a:rPr spc="0"/>
              <a:t>de</a:t>
            </a:r>
            <a:r>
              <a:rPr spc="-180"/>
              <a:t> </a:t>
            </a:r>
            <a:r>
              <a:rPr spc="0"/>
              <a:t>demanda</a:t>
            </a:r>
            <a:r>
              <a:rPr spc="-10"/>
              <a:t> </a:t>
            </a:r>
            <a:r>
              <a:rPr spc="0"/>
              <a:t>eléctrica</a:t>
            </a:r>
            <a:r>
              <a:rPr spc="40"/>
              <a:t> </a:t>
            </a:r>
            <a:r>
              <a:rPr spc="0"/>
              <a:t>y</a:t>
            </a:r>
            <a:r>
              <a:rPr spc="-70"/>
              <a:t> t</a:t>
            </a:r>
            <a:r>
              <a:rPr spc="-10"/>
              <a:t>emperatura aparente.</a:t>
            </a:r>
          </a:p>
          <a:p>
            <a:pPr marL="250657" marR="524509" indent="-250657">
              <a:lnSpc>
                <a:spcPct val="121200"/>
              </a:lnSpc>
              <a:buSzPct val="100000"/>
              <a:buChar char="•"/>
              <a:defRPr spc="-10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>
                <a:latin typeface="Avenir Heavy"/>
                <a:ea typeface="Avenir Heavy"/>
                <a:cs typeface="Avenir Heavy"/>
                <a:sym typeface="Avenir Heavy"/>
              </a:rPr>
              <a:t>Periodicidad</a:t>
            </a:r>
            <a:r>
              <a:t>:</a:t>
            </a:r>
            <a:r>
              <a:rPr spc="-95"/>
              <a:t> </a:t>
            </a:r>
            <a:r>
              <a:rPr spc="-65"/>
              <a:t>Resampleo</a:t>
            </a:r>
            <a:r>
              <a:rPr spc="-25"/>
              <a:t> </a:t>
            </a:r>
            <a:r>
              <a:rPr spc="-30"/>
              <a:t>semanal</a:t>
            </a:r>
            <a:r>
              <a:rPr spc="-80"/>
              <a:t> </a:t>
            </a:r>
            <a:r>
              <a:rPr spc="0"/>
              <a:t>para</a:t>
            </a:r>
            <a:r>
              <a:rPr spc="-150"/>
              <a:t> </a:t>
            </a:r>
            <a:r>
              <a:t>capturar estacionalidad</a:t>
            </a:r>
            <a:r>
              <a:rPr spc="-130"/>
              <a:t> </a:t>
            </a:r>
            <a:r>
              <a:t>anual.</a:t>
            </a:r>
          </a:p>
          <a:p>
            <a:pPr marL="258445" marR="20320" indent="-228600">
              <a:lnSpc>
                <a:spcPct val="121200"/>
              </a:lnSpc>
              <a:buSzPct val="100000"/>
              <a:buChar char="•"/>
              <a:defRPr spc="-10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>
                <a:latin typeface="Avenir Heavy"/>
                <a:ea typeface="Avenir Heavy"/>
                <a:cs typeface="Avenir Heavy"/>
                <a:sym typeface="Avenir Heavy"/>
              </a:rPr>
              <a:t>Variables</a:t>
            </a:r>
            <a:r>
              <a:t>:</a:t>
            </a:r>
            <a:r>
              <a:rPr spc="-170"/>
              <a:t> </a:t>
            </a:r>
            <a:r>
              <a:rPr spc="0"/>
              <a:t>Demanda</a:t>
            </a:r>
            <a:r>
              <a:rPr spc="-55"/>
              <a:t> </a:t>
            </a:r>
            <a:r>
              <a:rPr spc="-160"/>
              <a:t>(MWh),</a:t>
            </a:r>
            <a:r>
              <a:rPr spc="-15"/>
              <a:t> </a:t>
            </a:r>
            <a:r>
              <a:rPr spc="-40"/>
              <a:t>Temperatura</a:t>
            </a:r>
            <a:r>
              <a:rPr spc="-85"/>
              <a:t> </a:t>
            </a:r>
            <a:r>
              <a:rPr spc="-100"/>
              <a:t>Promedio, </a:t>
            </a:r>
            <a:r>
              <a:t>Feriados</a:t>
            </a:r>
          </a:p>
          <a:p>
            <a:pPr marL="245109" indent="-228600">
              <a:spcBef>
                <a:spcPts val="600"/>
              </a:spcBef>
              <a:buSzPct val="100000"/>
              <a:buChar char="•"/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rPr>
                <a:latin typeface="Avenir Heavy"/>
                <a:ea typeface="Avenir Heavy"/>
                <a:cs typeface="Avenir Heavy"/>
                <a:sym typeface="Avenir Heavy"/>
              </a:rPr>
              <a:t>Split</a:t>
            </a:r>
            <a:r>
              <a:t>:</a:t>
            </a:r>
            <a:r>
              <a:rPr spc="-180"/>
              <a:t> </a:t>
            </a:r>
            <a:r>
              <a:rPr spc="-310"/>
              <a:t>85 %</a:t>
            </a:r>
            <a:r>
              <a:rPr spc="-40"/>
              <a:t> </a:t>
            </a:r>
            <a:r>
              <a:rPr spc="-35"/>
              <a:t>Entrenamiento</a:t>
            </a:r>
            <a:r>
              <a:rPr spc="145"/>
              <a:t> </a:t>
            </a:r>
            <a:r>
              <a:rPr spc="-120"/>
              <a:t>/</a:t>
            </a:r>
            <a:r>
              <a:rPr spc="-110"/>
              <a:t> </a:t>
            </a:r>
            <a:r>
              <a:rPr spc="-530"/>
              <a:t>15 %</a:t>
            </a:r>
            <a:r>
              <a:rPr spc="20"/>
              <a:t> </a:t>
            </a:r>
            <a:r>
              <a:rPr spc="-80"/>
              <a:t>Prueba</a:t>
            </a:r>
            <a:r>
              <a:rPr spc="20"/>
              <a:t> </a:t>
            </a:r>
            <a:r>
              <a:rPr spc="-75"/>
              <a:t>(40</a:t>
            </a:r>
            <a:r>
              <a:rPr spc="-85"/>
              <a:t> </a:t>
            </a:r>
            <a:r>
              <a:rPr spc="-10"/>
              <a:t>semanas)</a:t>
            </a:r>
          </a:p>
        </p:txBody>
      </p:sp>
      <p:pic>
        <p:nvPicPr>
          <p:cNvPr id="76" name="Screenshot 2026-06-15 at 2.20.27 PM.png" descr="Screenshot 2026-06-15 at 2.20.27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970062" y="2813443"/>
            <a:ext cx="10872391" cy="567611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object 8"/>
          <p:cNvSpPr/>
          <p:nvPr/>
        </p:nvSpPr>
        <p:spPr>
          <a:xfrm>
            <a:off x="15707" y="769609"/>
            <a:ext cx="20080539" cy="63610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9" name="object 9"/>
          <p:cNvSpPr txBox="1"/>
          <p:nvPr>
            <p:ph type="title"/>
          </p:nvPr>
        </p:nvSpPr>
        <p:spPr>
          <a:xfrm>
            <a:off x="912418" y="535057"/>
            <a:ext cx="10010769" cy="1026795"/>
          </a:xfrm>
          <a:prstGeom prst="rect">
            <a:avLst/>
          </a:prstGeom>
        </p:spPr>
        <p:txBody>
          <a:bodyPr/>
          <a:lstStyle/>
          <a:p>
            <a:pPr indent="12268" defTabSz="841247">
              <a:defRPr spc="-184" sz="5888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Detección</a:t>
            </a:r>
            <a:r>
              <a:rPr spc="0"/>
              <a:t> de</a:t>
            </a:r>
            <a:r>
              <a:rPr spc="-276"/>
              <a:t> </a:t>
            </a:r>
            <a:r>
              <a:rPr>
                <a:solidFill>
                  <a:srgbClr val="DFFF87"/>
                </a:solidFill>
              </a:rPr>
              <a:t>Anomalías</a:t>
            </a:r>
          </a:p>
        </p:txBody>
      </p:sp>
      <p:sp>
        <p:nvSpPr>
          <p:cNvPr id="80" name="object 10"/>
          <p:cNvSpPr txBox="1"/>
          <p:nvPr/>
        </p:nvSpPr>
        <p:spPr>
          <a:xfrm>
            <a:off x="11694237" y="2750992"/>
            <a:ext cx="8143876" cy="461274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3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spcBef>
                <a:spcPts val="2100"/>
              </a:spcBef>
              <a:defRPr sz="23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defRPr spc="80" sz="23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Método</a:t>
            </a:r>
            <a:r>
              <a:rPr spc="-55"/>
              <a:t> </a:t>
            </a:r>
            <a:r>
              <a:rPr spc="60"/>
              <a:t>del</a:t>
            </a:r>
            <a:r>
              <a:rPr spc="204"/>
              <a:t> </a:t>
            </a:r>
            <a:r>
              <a:rPr spc="125"/>
              <a:t>Rango</a:t>
            </a:r>
            <a:r>
              <a:rPr spc="-65"/>
              <a:t> </a:t>
            </a:r>
            <a:r>
              <a:rPr spc="90"/>
              <a:t>Intercuartílico</a:t>
            </a:r>
            <a:r>
              <a:rPr spc="-245"/>
              <a:t> </a:t>
            </a:r>
            <a:r>
              <a:rPr spc="125"/>
              <a:t>(IQR)</a:t>
            </a:r>
          </a:p>
          <a:p>
            <a:pPr>
              <a:defRPr sz="23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1270">
              <a:defRPr spc="-114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Se</a:t>
            </a:r>
            <a:r>
              <a:rPr spc="-85"/>
              <a:t> </a:t>
            </a:r>
            <a:r>
              <a:rPr spc="0"/>
              <a:t>identificaron</a:t>
            </a:r>
            <a:r>
              <a:rPr spc="140"/>
              <a:t> </a:t>
            </a:r>
            <a:r>
              <a:rPr spc="0"/>
              <a:t>8</a:t>
            </a:r>
            <a:r>
              <a:rPr spc="85"/>
              <a:t> </a:t>
            </a:r>
            <a:r>
              <a:rPr spc="0"/>
              <a:t>valores</a:t>
            </a:r>
            <a:r>
              <a:rPr spc="85"/>
              <a:t> </a:t>
            </a:r>
            <a:r>
              <a:rPr spc="0"/>
              <a:t>atípicos</a:t>
            </a:r>
            <a:r>
              <a:rPr spc="114"/>
              <a:t> </a:t>
            </a:r>
            <a:r>
              <a:rPr spc="-150"/>
              <a:t>(0.43%</a:t>
            </a:r>
            <a:r>
              <a:rPr spc="35"/>
              <a:t> </a:t>
            </a:r>
            <a:r>
              <a:rPr spc="50"/>
              <a:t>de</a:t>
            </a:r>
            <a:r>
              <a:rPr spc="-90"/>
              <a:t> </a:t>
            </a:r>
            <a:r>
              <a:rPr spc="0"/>
              <a:t>la</a:t>
            </a:r>
            <a:r>
              <a:rPr spc="-60"/>
              <a:t> </a:t>
            </a:r>
            <a:r>
              <a:rPr spc="-10"/>
              <a:t>muestra).</a:t>
            </a:r>
          </a:p>
          <a:p>
            <a:pPr>
              <a:spcBef>
                <a:spcPts val="300"/>
              </a:spcBef>
              <a:defRPr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marL="614680" indent="-316229">
              <a:buClr>
                <a:srgbClr val="E2FFE9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Picos</a:t>
            </a:r>
            <a:r>
              <a:rPr spc="160"/>
              <a:t> </a:t>
            </a:r>
            <a:r>
              <a:t>extremos</a:t>
            </a:r>
            <a:r>
              <a:rPr spc="320"/>
              <a:t> </a:t>
            </a:r>
            <a:r>
              <a:rPr spc="85"/>
              <a:t>en</a:t>
            </a:r>
            <a:r>
              <a:rPr spc="-20"/>
              <a:t> </a:t>
            </a:r>
            <a:r>
              <a:rPr spc="125"/>
              <a:t>marzo</a:t>
            </a:r>
            <a:r>
              <a:rPr spc="160"/>
              <a:t> </a:t>
            </a:r>
            <a:r>
              <a:t>(olas</a:t>
            </a:r>
            <a:r>
              <a:rPr spc="165"/>
              <a:t> </a:t>
            </a:r>
            <a:r>
              <a:t>de</a:t>
            </a:r>
            <a:r>
              <a:rPr spc="300"/>
              <a:t> </a:t>
            </a:r>
            <a:r>
              <a:rPr spc="-10"/>
              <a:t>calor).</a:t>
            </a:r>
          </a:p>
          <a:p>
            <a:pPr marL="614680" indent="-316229">
              <a:spcBef>
                <a:spcPts val="600"/>
              </a:spcBef>
              <a:buClr>
                <a:srgbClr val="D8FFDF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Picos</a:t>
            </a:r>
            <a:r>
              <a:rPr spc="145"/>
              <a:t> </a:t>
            </a:r>
            <a:r>
              <a:t>invernales</a:t>
            </a:r>
            <a:r>
              <a:rPr spc="204"/>
              <a:t> </a:t>
            </a:r>
            <a:r>
              <a:rPr spc="55"/>
              <a:t>por</a:t>
            </a:r>
            <a:r>
              <a:rPr spc="35"/>
              <a:t> </a:t>
            </a:r>
            <a:r>
              <a:rPr spc="110"/>
              <a:t>bajas</a:t>
            </a:r>
            <a:r>
              <a:rPr spc="250"/>
              <a:t> t</a:t>
            </a:r>
            <a:r>
              <a:rPr spc="-10"/>
              <a:t>emperaturas.</a:t>
            </a:r>
          </a:p>
          <a:p>
            <a:pPr marL="614680" marR="13970" indent="-316229">
              <a:lnSpc>
                <a:spcPct val="121200"/>
              </a:lnSpc>
              <a:buClr>
                <a:srgbClr val="E6FFEB"/>
              </a:buClr>
              <a:buSzPct val="100000"/>
              <a:buChar char="•"/>
              <a:tabLst>
                <a:tab pos="609600" algn="l"/>
              </a:tabLst>
              <a:defRPr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La</a:t>
            </a:r>
            <a:r>
              <a:rPr spc="60"/>
              <a:t>  </a:t>
            </a:r>
            <a:r>
              <a:t>serie </a:t>
            </a:r>
            <a:r>
              <a:rPr spc="55"/>
              <a:t>presenta</a:t>
            </a:r>
            <a:r>
              <a:rPr spc="120"/>
              <a:t> </a:t>
            </a:r>
            <a:r>
              <a:t>"colas</a:t>
            </a:r>
            <a:r>
              <a:rPr spc="110"/>
              <a:t> </a:t>
            </a:r>
            <a:r>
              <a:t>pesadas",</a:t>
            </a:r>
            <a:r>
              <a:rPr spc="185"/>
              <a:t> </a:t>
            </a:r>
            <a:r>
              <a:rPr spc="50"/>
              <a:t>indicando</a:t>
            </a:r>
            <a:r>
              <a:rPr spc="114"/>
              <a:t> </a:t>
            </a:r>
            <a:r>
              <a:rPr spc="55"/>
              <a:t>riesgo</a:t>
            </a:r>
            <a:r>
              <a:rPr spc="20"/>
              <a:t> </a:t>
            </a:r>
            <a:r>
              <a:rPr spc="45"/>
              <a:t>de 	</a:t>
            </a:r>
            <a:r>
              <a:t>eventos</a:t>
            </a:r>
            <a:r>
              <a:rPr spc="185"/>
              <a:t> </a:t>
            </a:r>
            <a:r>
              <a:rPr spc="-10"/>
              <a:t>extremos.</a:t>
            </a:r>
          </a:p>
        </p:txBody>
      </p:sp>
      <p:pic>
        <p:nvPicPr>
          <p:cNvPr id="81" name="Screenshot 2026-06-15 at 2.20.05 PM.png" descr="Screenshot 2026-06-15 at 2.20.05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9242" y="2606585"/>
            <a:ext cx="10697121" cy="775570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bject 2"/>
          <p:cNvSpPr/>
          <p:nvPr/>
        </p:nvSpPr>
        <p:spPr>
          <a:xfrm>
            <a:off x="15707" y="769610"/>
            <a:ext cx="20080539" cy="82458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4" name="object 3"/>
          <p:cNvSpPr txBox="1"/>
          <p:nvPr>
            <p:ph type="title"/>
          </p:nvPr>
        </p:nvSpPr>
        <p:spPr>
          <a:xfrm>
            <a:off x="912418" y="535057"/>
            <a:ext cx="10010769" cy="1026795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pc="-273" sz="5915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Descomposición</a:t>
            </a:r>
            <a:r>
              <a:rPr spc="-455"/>
              <a:t> </a:t>
            </a:r>
            <a:r>
              <a:rPr>
                <a:solidFill>
                  <a:srgbClr val="DBFF9E"/>
                </a:solidFill>
              </a:rPr>
              <a:t>Estacional</a:t>
            </a:r>
          </a:p>
        </p:txBody>
      </p:sp>
      <p:sp>
        <p:nvSpPr>
          <p:cNvPr id="85" name="object 4"/>
          <p:cNvSpPr/>
          <p:nvPr/>
        </p:nvSpPr>
        <p:spPr>
          <a:xfrm>
            <a:off x="15707" y="4413477"/>
            <a:ext cx="20080539" cy="3431833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6" name="object 5"/>
          <p:cNvSpPr txBox="1"/>
          <p:nvPr/>
        </p:nvSpPr>
        <p:spPr>
          <a:xfrm>
            <a:off x="1470964" y="4890421"/>
            <a:ext cx="1756411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-10" sz="2800">
                <a:solidFill>
                  <a:srgbClr val="E4F997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pPr/>
            <a:r>
              <a:t>Tendencia</a:t>
            </a:r>
          </a:p>
        </p:txBody>
      </p:sp>
      <p:sp>
        <p:nvSpPr>
          <p:cNvPr id="87" name="object 6"/>
          <p:cNvSpPr txBox="1"/>
          <p:nvPr/>
        </p:nvSpPr>
        <p:spPr>
          <a:xfrm>
            <a:off x="1453294" y="5582944"/>
            <a:ext cx="4751706" cy="1476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175" marR="5080" indent="8890" algn="just">
              <a:lnSpc>
                <a:spcPct val="126200"/>
              </a:lnSpc>
              <a:spcBef>
                <a:spcPts val="100"/>
              </a:spcBef>
              <a:defRPr spc="80" sz="2400">
                <a:solidFill>
                  <a:srgbClr val="F2F2F2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Muestra</a:t>
            </a:r>
            <a:r>
              <a:rPr spc="65"/>
              <a:t> </a:t>
            </a:r>
            <a:r>
              <a:rPr spc="0">
                <a:solidFill>
                  <a:srgbClr val="F6F6F6"/>
                </a:solidFill>
              </a:rPr>
              <a:t>un</a:t>
            </a:r>
            <a:r>
              <a:rPr spc="25">
                <a:solidFill>
                  <a:srgbClr val="F6F6F6"/>
                </a:solidFill>
              </a:rPr>
              <a:t> </a:t>
            </a:r>
            <a:r>
              <a:rPr spc="60">
                <a:solidFill>
                  <a:srgbClr val="F7F7F7"/>
                </a:solidFill>
              </a:rPr>
              <a:t>crecimiento</a:t>
            </a:r>
            <a:r>
              <a:rPr spc="265">
                <a:solidFill>
                  <a:srgbClr val="F7F7F7"/>
                </a:solidFill>
              </a:rPr>
              <a:t> </a:t>
            </a:r>
            <a:r>
              <a:rPr spc="45">
                <a:solidFill>
                  <a:srgbClr val="F4F4F4"/>
                </a:solidFill>
              </a:rPr>
              <a:t>sostenido </a:t>
            </a:r>
            <a:r>
              <a:rPr spc="70">
                <a:solidFill>
                  <a:srgbClr val="F0F0F0"/>
                </a:solidFill>
              </a:rPr>
              <a:t>de</a:t>
            </a:r>
            <a:r>
              <a:rPr spc="275">
                <a:solidFill>
                  <a:srgbClr val="F0F0F0"/>
                </a:solidFill>
              </a:rPr>
              <a:t> </a:t>
            </a:r>
            <a:r>
              <a:rPr spc="50">
                <a:solidFill>
                  <a:srgbClr val="EDEDED"/>
                </a:solidFill>
              </a:rPr>
              <a:t>la</a:t>
            </a:r>
            <a:r>
              <a:rPr spc="234">
                <a:solidFill>
                  <a:srgbClr val="EDEDED"/>
                </a:solidFill>
              </a:rPr>
              <a:t> </a:t>
            </a:r>
            <a:r>
              <a:rPr spc="200">
                <a:solidFill>
                  <a:srgbClr val="FFFFFF"/>
                </a:solidFill>
              </a:rPr>
              <a:t>demanda</a:t>
            </a:r>
            <a:r>
              <a:rPr spc="104">
                <a:solidFill>
                  <a:srgbClr val="FFFFFF"/>
                </a:solidFill>
              </a:rPr>
              <a:t> </a:t>
            </a:r>
            <a:r>
              <a:rPr spc="114">
                <a:solidFill>
                  <a:srgbClr val="F6F6F6"/>
                </a:solidFill>
              </a:rPr>
              <a:t>bas</a:t>
            </a:r>
            <a:r>
              <a:rPr spc="-465">
                <a:solidFill>
                  <a:srgbClr val="F6F6F6"/>
                </a:solidFill>
              </a:rPr>
              <a:t>e</a:t>
            </a:r>
            <a:r>
              <a:rPr spc="120">
                <a:solidFill>
                  <a:srgbClr val="001100"/>
                </a:solidFill>
              </a:rPr>
              <a:t> </a:t>
            </a:r>
            <a:r>
              <a:rPr spc="120">
                <a:solidFill>
                  <a:srgbClr val="FFFFFF"/>
                </a:solidFill>
              </a:rPr>
              <a:t>a </a:t>
            </a:r>
            <a:r>
              <a:rPr spc="0">
                <a:solidFill>
                  <a:srgbClr val="EFEFEF"/>
                </a:solidFill>
              </a:rPr>
              <a:t>lo</a:t>
            </a:r>
            <a:r>
              <a:rPr spc="5">
                <a:solidFill>
                  <a:srgbClr val="EFEFEF"/>
                </a:solidFill>
              </a:rPr>
              <a:t> </a:t>
            </a:r>
            <a:r>
              <a:rPr spc="114">
                <a:solidFill>
                  <a:srgbClr val="EFEFEF"/>
                </a:solidFill>
              </a:rPr>
              <a:t>largo</a:t>
            </a:r>
            <a:r>
              <a:rPr spc="40">
                <a:solidFill>
                  <a:srgbClr val="EFEFEF"/>
                </a:solidFill>
              </a:rPr>
              <a:t> </a:t>
            </a:r>
            <a:r>
              <a:rPr spc="104">
                <a:solidFill>
                  <a:srgbClr val="E6E6E6"/>
                </a:solidFill>
              </a:rPr>
              <a:t>de </a:t>
            </a:r>
            <a:r>
              <a:rPr spc="0">
                <a:solidFill>
                  <a:srgbClr val="EFEFEF"/>
                </a:solidFill>
              </a:rPr>
              <a:t>los</a:t>
            </a:r>
            <a:r>
              <a:rPr spc="195">
                <a:solidFill>
                  <a:srgbClr val="EFEFEF"/>
                </a:solidFill>
              </a:rPr>
              <a:t> </a:t>
            </a:r>
            <a:r>
              <a:rPr spc="70">
                <a:solidFill>
                  <a:srgbClr val="EFEFEF"/>
                </a:solidFill>
              </a:rPr>
              <a:t>años.</a:t>
            </a:r>
          </a:p>
        </p:txBody>
      </p:sp>
      <p:sp>
        <p:nvSpPr>
          <p:cNvPr id="88" name="object 7"/>
          <p:cNvSpPr txBox="1"/>
          <p:nvPr/>
        </p:nvSpPr>
        <p:spPr>
          <a:xfrm>
            <a:off x="7913990" y="4890421"/>
            <a:ext cx="3438173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100" sz="2800">
                <a:solidFill>
                  <a:srgbClr val="E9F6AB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pPr/>
            <a:r>
              <a:t>Estacionalidad</a:t>
            </a:r>
          </a:p>
        </p:txBody>
      </p:sp>
      <p:sp>
        <p:nvSpPr>
          <p:cNvPr id="89" name="object 8"/>
          <p:cNvSpPr txBox="1"/>
          <p:nvPr/>
        </p:nvSpPr>
        <p:spPr>
          <a:xfrm>
            <a:off x="7910104" y="5548413"/>
            <a:ext cx="4546601" cy="154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R="5080" indent="19050">
              <a:lnSpc>
                <a:spcPct val="114500"/>
              </a:lnSpc>
              <a:spcBef>
                <a:spcPts val="100"/>
              </a:spcBef>
              <a:defRPr sz="2700">
                <a:solidFill>
                  <a:srgbClr val="F6F6F6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Ciclos</a:t>
            </a:r>
            <a:r>
              <a:rPr spc="55"/>
              <a:t> </a:t>
            </a:r>
            <a:r>
              <a:rPr>
                <a:solidFill>
                  <a:srgbClr val="FFFFFF"/>
                </a:solidFill>
              </a:rPr>
              <a:t>marcados</a:t>
            </a:r>
            <a:r>
              <a:rPr spc="204">
                <a:solidFill>
                  <a:srgbClr val="FFFFFF"/>
                </a:solidFill>
              </a:rPr>
              <a:t> </a:t>
            </a:r>
            <a:r>
              <a:rPr spc="80">
                <a:solidFill>
                  <a:srgbClr val="E9E9E9"/>
                </a:solidFill>
              </a:rPr>
              <a:t>de</a:t>
            </a:r>
            <a:r>
              <a:rPr spc="-20">
                <a:solidFill>
                  <a:srgbClr val="E9E9E9"/>
                </a:solidFill>
              </a:rPr>
              <a:t> </a:t>
            </a:r>
            <a:r>
              <a:rPr>
                <a:solidFill>
                  <a:srgbClr val="E8E8E8"/>
                </a:solidFill>
              </a:rPr>
              <a:t>52</a:t>
            </a:r>
            <a:r>
              <a:rPr spc="135">
                <a:solidFill>
                  <a:srgbClr val="E8E8E8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semanas </a:t>
            </a:r>
            <a:r>
              <a:t>con</a:t>
            </a:r>
            <a:r>
              <a:rPr spc="-145"/>
              <a:t> </a:t>
            </a:r>
            <a:r>
              <a:rPr>
                <a:solidFill>
                  <a:srgbClr val="FFFFFF"/>
                </a:solidFill>
              </a:rPr>
              <a:t>dos</a:t>
            </a:r>
            <a:r>
              <a:rPr spc="-70">
                <a:solidFill>
                  <a:srgbClr val="FFFFFF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picos:</a:t>
            </a:r>
            <a:r>
              <a:rPr spc="60">
                <a:solidFill>
                  <a:srgbClr val="FFFFFF"/>
                </a:solidFill>
              </a:rPr>
              <a:t> </a:t>
            </a:r>
            <a:r>
              <a:rPr spc="-25">
                <a:solidFill>
                  <a:srgbClr val="FFFFFF"/>
                </a:solidFill>
              </a:rPr>
              <a:t>Verano</a:t>
            </a:r>
            <a:r>
              <a:rPr spc="-10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8E8E8"/>
                </a:solidFill>
              </a:rPr>
              <a:t>e</a:t>
            </a:r>
            <a:r>
              <a:rPr spc="10">
                <a:solidFill>
                  <a:srgbClr val="E8E8E8"/>
                </a:solidFill>
              </a:rPr>
              <a:t> </a:t>
            </a:r>
            <a:r>
              <a:rPr spc="-50">
                <a:solidFill>
                  <a:srgbClr val="FFFFFF"/>
                </a:solidFill>
              </a:rPr>
              <a:t>Invierno.</a:t>
            </a:r>
          </a:p>
        </p:txBody>
      </p:sp>
      <p:sp>
        <p:nvSpPr>
          <p:cNvPr id="90" name="object 9"/>
          <p:cNvSpPr txBox="1"/>
          <p:nvPr/>
        </p:nvSpPr>
        <p:spPr>
          <a:xfrm>
            <a:off x="13811986" y="4890421"/>
            <a:ext cx="1332866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indent="12700">
              <a:spcBef>
                <a:spcPts val="100"/>
              </a:spcBef>
              <a:defRPr spc="-10" sz="2800">
                <a:solidFill>
                  <a:srgbClr val="E2FDB1"/>
                </a:solidFill>
                <a:latin typeface="Avenir Heavy"/>
                <a:ea typeface="Avenir Heavy"/>
                <a:cs typeface="Avenir Heavy"/>
                <a:sym typeface="Avenir Heavy"/>
              </a:defRPr>
            </a:lvl1pPr>
          </a:lstStyle>
          <a:p>
            <a:pPr/>
            <a:r>
              <a:t>Residuo</a:t>
            </a:r>
          </a:p>
        </p:txBody>
      </p:sp>
      <p:sp>
        <p:nvSpPr>
          <p:cNvPr id="91" name="object 10"/>
          <p:cNvSpPr txBox="1"/>
          <p:nvPr/>
        </p:nvSpPr>
        <p:spPr>
          <a:xfrm>
            <a:off x="13804949" y="5585582"/>
            <a:ext cx="3954146" cy="2001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5079" marR="5080" indent="6985">
              <a:lnSpc>
                <a:spcPct val="121200"/>
              </a:lnSpc>
              <a:defRPr sz="2500">
                <a:solidFill>
                  <a:srgbClr val="DBDBDB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Ruido</a:t>
            </a:r>
            <a:r>
              <a:rPr spc="5"/>
              <a:t> </a:t>
            </a:r>
            <a:r>
              <a:rPr spc="75">
                <a:solidFill>
                  <a:srgbClr val="FFFFFF"/>
                </a:solidFill>
              </a:rPr>
              <a:t>blanco</a:t>
            </a:r>
            <a:r>
              <a:rPr spc="17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BEBEB"/>
                </a:solidFill>
              </a:rPr>
              <a:t>tras</a:t>
            </a:r>
            <a:r>
              <a:rPr spc="100">
                <a:solidFill>
                  <a:srgbClr val="EBEBEB"/>
                </a:solidFill>
              </a:rPr>
              <a:t> </a:t>
            </a:r>
            <a:r>
              <a:rPr spc="45">
                <a:solidFill>
                  <a:srgbClr val="E9E9E9"/>
                </a:solidFill>
              </a:rPr>
              <a:t>extraer</a:t>
            </a:r>
            <a:r>
              <a:rPr spc="95">
                <a:solidFill>
                  <a:srgbClr val="E9E9E9"/>
                </a:solidFill>
              </a:rPr>
              <a:t> </a:t>
            </a:r>
            <a:r>
              <a:rPr spc="-25">
                <a:solidFill>
                  <a:srgbClr val="E6E6E6"/>
                </a:solidFill>
              </a:rPr>
              <a:t>los </a:t>
            </a:r>
            <a:r>
              <a:rPr>
                <a:solidFill>
                  <a:srgbClr val="F6F6F6"/>
                </a:solidFill>
              </a:rPr>
              <a:t>componentes,</a:t>
            </a:r>
            <a:r>
              <a:rPr spc="85">
                <a:solidFill>
                  <a:srgbClr val="F6F6F6"/>
                </a:solidFill>
              </a:rPr>
              <a:t>  </a:t>
            </a:r>
            <a:r>
              <a:rPr>
                <a:solidFill>
                  <a:srgbClr val="EDEDED"/>
                </a:solidFill>
              </a:rPr>
              <a:t>validando</a:t>
            </a:r>
            <a:r>
              <a:rPr spc="320">
                <a:solidFill>
                  <a:srgbClr val="EDEDED"/>
                </a:solidFill>
              </a:rPr>
              <a:t> </a:t>
            </a:r>
            <a:r>
              <a:rPr spc="-25">
                <a:solidFill>
                  <a:srgbClr val="EDFFF4"/>
                </a:solidFill>
              </a:rPr>
              <a:t>la </a:t>
            </a:r>
            <a:r>
              <a:rPr>
                <a:solidFill>
                  <a:srgbClr val="F6F6F6"/>
                </a:solidFill>
              </a:rPr>
              <a:t>estructura</a:t>
            </a:r>
            <a:r>
              <a:rPr spc="254">
                <a:solidFill>
                  <a:srgbClr val="F6F6F6"/>
                </a:solidFill>
              </a:rPr>
              <a:t> </a:t>
            </a:r>
            <a:r>
              <a:rPr>
                <a:solidFill>
                  <a:srgbClr val="F7F7F7"/>
                </a:solidFill>
              </a:rPr>
              <a:t>del</a:t>
            </a:r>
            <a:r>
              <a:rPr spc="175">
                <a:solidFill>
                  <a:srgbClr val="F7F7F7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modelo.</a:t>
            </a:r>
          </a:p>
        </p:txBody>
      </p:sp>
      <p:sp>
        <p:nvSpPr>
          <p:cNvPr id="92" name="Shape"/>
          <p:cNvSpPr/>
          <p:nvPr/>
        </p:nvSpPr>
        <p:spPr>
          <a:xfrm>
            <a:off x="1067055" y="4496721"/>
            <a:ext cx="5524183" cy="32653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FC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/>
          </a:p>
        </p:txBody>
      </p:sp>
      <p:sp>
        <p:nvSpPr>
          <p:cNvPr id="93" name="Shape"/>
          <p:cNvSpPr/>
          <p:nvPr/>
        </p:nvSpPr>
        <p:spPr>
          <a:xfrm>
            <a:off x="7167164" y="4502833"/>
            <a:ext cx="5276841" cy="32531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FC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/>
          </a:p>
        </p:txBody>
      </p:sp>
      <p:sp>
        <p:nvSpPr>
          <p:cNvPr id="94" name="Shape"/>
          <p:cNvSpPr/>
          <p:nvPr/>
        </p:nvSpPr>
        <p:spPr>
          <a:xfrm>
            <a:off x="13019931" y="4496721"/>
            <a:ext cx="5276841" cy="32653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928" y="0"/>
                </a:moveTo>
                <a:lnTo>
                  <a:pt x="18672" y="0"/>
                </a:lnTo>
                <a:cubicBezTo>
                  <a:pt x="19102" y="0"/>
                  <a:pt x="19446" y="0"/>
                  <a:pt x="19725" y="30"/>
                </a:cubicBezTo>
                <a:cubicBezTo>
                  <a:pt x="20004" y="61"/>
                  <a:pt x="20219" y="121"/>
                  <a:pt x="20391" y="243"/>
                </a:cubicBezTo>
                <a:cubicBezTo>
                  <a:pt x="20638" y="395"/>
                  <a:pt x="20860" y="637"/>
                  <a:pt x="21042" y="944"/>
                </a:cubicBezTo>
                <a:cubicBezTo>
                  <a:pt x="21224" y="1252"/>
                  <a:pt x="21366" y="1627"/>
                  <a:pt x="21457" y="2046"/>
                </a:cubicBezTo>
                <a:cubicBezTo>
                  <a:pt x="21528" y="2337"/>
                  <a:pt x="21564" y="2700"/>
                  <a:pt x="21582" y="3172"/>
                </a:cubicBezTo>
                <a:cubicBezTo>
                  <a:pt x="21600" y="3645"/>
                  <a:pt x="21600" y="4226"/>
                  <a:pt x="21600" y="4953"/>
                </a:cubicBezTo>
                <a:lnTo>
                  <a:pt x="21600" y="16647"/>
                </a:lnTo>
                <a:cubicBezTo>
                  <a:pt x="21600" y="17374"/>
                  <a:pt x="21600" y="17955"/>
                  <a:pt x="21582" y="18428"/>
                </a:cubicBezTo>
                <a:cubicBezTo>
                  <a:pt x="21564" y="18900"/>
                  <a:pt x="21528" y="19263"/>
                  <a:pt x="21457" y="19554"/>
                </a:cubicBezTo>
                <a:cubicBezTo>
                  <a:pt x="21366" y="19973"/>
                  <a:pt x="21224" y="20348"/>
                  <a:pt x="21042" y="20656"/>
                </a:cubicBezTo>
                <a:cubicBezTo>
                  <a:pt x="20860" y="20963"/>
                  <a:pt x="20638" y="21205"/>
                  <a:pt x="20391" y="21357"/>
                </a:cubicBezTo>
                <a:cubicBezTo>
                  <a:pt x="20219" y="21479"/>
                  <a:pt x="20004" y="21539"/>
                  <a:pt x="19725" y="21570"/>
                </a:cubicBezTo>
                <a:cubicBezTo>
                  <a:pt x="19446" y="21600"/>
                  <a:pt x="19102" y="21600"/>
                  <a:pt x="18672" y="21600"/>
                </a:cubicBezTo>
                <a:lnTo>
                  <a:pt x="2928" y="21600"/>
                </a:lnTo>
                <a:cubicBezTo>
                  <a:pt x="2498" y="21600"/>
                  <a:pt x="2154" y="21600"/>
                  <a:pt x="1875" y="21570"/>
                </a:cubicBezTo>
                <a:cubicBezTo>
                  <a:pt x="1596" y="21539"/>
                  <a:pt x="1381" y="21479"/>
                  <a:pt x="1209" y="21357"/>
                </a:cubicBezTo>
                <a:cubicBezTo>
                  <a:pt x="962" y="21205"/>
                  <a:pt x="740" y="20963"/>
                  <a:pt x="558" y="20656"/>
                </a:cubicBezTo>
                <a:cubicBezTo>
                  <a:pt x="376" y="20348"/>
                  <a:pt x="234" y="19973"/>
                  <a:pt x="143" y="19554"/>
                </a:cubicBezTo>
                <a:cubicBezTo>
                  <a:pt x="72" y="19263"/>
                  <a:pt x="36" y="18900"/>
                  <a:pt x="18" y="18428"/>
                </a:cubicBezTo>
                <a:cubicBezTo>
                  <a:pt x="0" y="17955"/>
                  <a:pt x="0" y="17374"/>
                  <a:pt x="0" y="16647"/>
                </a:cubicBezTo>
                <a:lnTo>
                  <a:pt x="0" y="4953"/>
                </a:lnTo>
                <a:cubicBezTo>
                  <a:pt x="0" y="4226"/>
                  <a:pt x="0" y="3645"/>
                  <a:pt x="18" y="3172"/>
                </a:cubicBezTo>
                <a:cubicBezTo>
                  <a:pt x="36" y="2700"/>
                  <a:pt x="72" y="2337"/>
                  <a:pt x="143" y="2046"/>
                </a:cubicBezTo>
                <a:cubicBezTo>
                  <a:pt x="234" y="1627"/>
                  <a:pt x="376" y="1252"/>
                  <a:pt x="558" y="944"/>
                </a:cubicBezTo>
                <a:cubicBezTo>
                  <a:pt x="740" y="637"/>
                  <a:pt x="962" y="395"/>
                  <a:pt x="1209" y="243"/>
                </a:cubicBezTo>
                <a:cubicBezTo>
                  <a:pt x="1381" y="121"/>
                  <a:pt x="1596" y="61"/>
                  <a:pt x="1875" y="30"/>
                </a:cubicBezTo>
                <a:cubicBezTo>
                  <a:pt x="2154" y="0"/>
                  <a:pt x="2498" y="0"/>
                  <a:pt x="2928" y="0"/>
                </a:cubicBezTo>
                <a:close/>
              </a:path>
            </a:pathLst>
          </a:custGeom>
          <a:ln w="25400">
            <a:solidFill>
              <a:srgbClr val="FFFC79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object 8"/>
          <p:cNvSpPr/>
          <p:nvPr/>
        </p:nvSpPr>
        <p:spPr>
          <a:xfrm>
            <a:off x="15707" y="769610"/>
            <a:ext cx="20080539" cy="824582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object 9"/>
          <p:cNvSpPr txBox="1"/>
          <p:nvPr>
            <p:ph type="title"/>
          </p:nvPr>
        </p:nvSpPr>
        <p:spPr>
          <a:xfrm>
            <a:off x="912418" y="535057"/>
            <a:ext cx="10010769" cy="1026795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pc="-91" sz="5915">
                <a:latin typeface="Avenir Book"/>
                <a:ea typeface="Avenir Book"/>
                <a:cs typeface="Avenir Book"/>
                <a:sym typeface="Avenir Book"/>
              </a:defRPr>
            </a:pPr>
            <a:r>
              <a:t>Demanda</a:t>
            </a:r>
            <a:r>
              <a:rPr spc="-364"/>
              <a:t> vs.</a:t>
            </a:r>
            <a:r>
              <a:rPr spc="-182"/>
              <a:t> </a:t>
            </a:r>
            <a:r>
              <a:rPr spc="-182">
                <a:solidFill>
                  <a:srgbClr val="DFFDA3"/>
                </a:solidFill>
              </a:rPr>
              <a:t>Temperatura</a:t>
            </a:r>
          </a:p>
        </p:txBody>
      </p:sp>
      <p:sp>
        <p:nvSpPr>
          <p:cNvPr id="98" name="object 10"/>
          <p:cNvSpPr txBox="1"/>
          <p:nvPr/>
        </p:nvSpPr>
        <p:spPr>
          <a:xfrm>
            <a:off x="942379" y="3376860"/>
            <a:ext cx="7861301" cy="48514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spcBef>
                <a:spcPts val="900"/>
              </a:spcBef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1905">
              <a:defRPr spc="180" sz="22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Comportamiento</a:t>
            </a:r>
            <a:r>
              <a:rPr spc="-185"/>
              <a:t> </a:t>
            </a:r>
            <a:r>
              <a:rPr spc="215"/>
              <a:t>No</a:t>
            </a:r>
            <a:r>
              <a:rPr spc="-175"/>
              <a:t> </a:t>
            </a:r>
            <a:r>
              <a:rPr spc="155"/>
              <a:t>Lineal</a:t>
            </a:r>
          </a:p>
          <a:p>
            <a:pPr>
              <a:spcBef>
                <a:spcPts val="300"/>
              </a:spcBef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defRPr spc="225" sz="2300">
                <a:solidFill>
                  <a:srgbClr val="EBEBEB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La</a:t>
            </a:r>
            <a:r>
              <a:rPr spc="200"/>
              <a:t> </a:t>
            </a:r>
            <a:r>
              <a:rPr spc="114">
                <a:solidFill>
                  <a:srgbClr val="F4F4F4"/>
                </a:solidFill>
              </a:rPr>
              <a:t>relación</a:t>
            </a:r>
            <a:r>
              <a:rPr spc="185">
                <a:solidFill>
                  <a:srgbClr val="F4F4F4"/>
                </a:solidFill>
              </a:rPr>
              <a:t> </a:t>
            </a:r>
            <a:r>
              <a:rPr spc="140">
                <a:solidFill>
                  <a:srgbClr val="E6E6E6"/>
                </a:solidFill>
              </a:rPr>
              <a:t>sigue</a:t>
            </a:r>
            <a:r>
              <a:rPr spc="85">
                <a:solidFill>
                  <a:srgbClr val="E6E6E6"/>
                </a:solidFill>
              </a:rPr>
              <a:t> </a:t>
            </a:r>
            <a:r>
              <a:rPr spc="174">
                <a:solidFill>
                  <a:srgbClr val="EFEFEF"/>
                </a:solidFill>
              </a:rPr>
              <a:t>una</a:t>
            </a:r>
            <a:r>
              <a:rPr spc="100">
                <a:solidFill>
                  <a:srgbClr val="EFEFEF"/>
                </a:solidFill>
              </a:rPr>
              <a:t> </a:t>
            </a:r>
            <a:r>
              <a:rPr spc="195">
                <a:solidFill>
                  <a:srgbClr val="EFEFEF"/>
                </a:solidFill>
              </a:rPr>
              <a:t>parábola</a:t>
            </a:r>
            <a:r>
              <a:rPr spc="85">
                <a:solidFill>
                  <a:srgbClr val="EFEFEF"/>
                </a:solidFill>
              </a:rPr>
              <a:t> </a:t>
            </a:r>
            <a:r>
              <a:rPr spc="240">
                <a:solidFill>
                  <a:srgbClr val="E8E8E8"/>
                </a:solidFill>
              </a:rPr>
              <a:t>o</a:t>
            </a:r>
            <a:r>
              <a:rPr spc="70">
                <a:solidFill>
                  <a:srgbClr val="E8E8E8"/>
                </a:solidFill>
              </a:rPr>
              <a:t> </a:t>
            </a:r>
            <a:r>
              <a:t>forma</a:t>
            </a:r>
            <a:r>
              <a:rPr spc="55"/>
              <a:t> </a:t>
            </a:r>
            <a:r>
              <a:rPr spc="220">
                <a:solidFill>
                  <a:srgbClr val="F2F2F2"/>
                </a:solidFill>
              </a:rPr>
              <a:t>de</a:t>
            </a:r>
            <a:r>
              <a:rPr spc="140">
                <a:solidFill>
                  <a:srgbClr val="F2F2F2"/>
                </a:solidFill>
              </a:rPr>
              <a:t> </a:t>
            </a:r>
            <a:r>
              <a:rPr spc="-20">
                <a:solidFill>
                  <a:srgbClr val="F2F2F2"/>
                </a:solidFill>
              </a:rPr>
              <a:t>"U".</a:t>
            </a:r>
          </a:p>
          <a:p>
            <a:pPr>
              <a:spcBef>
                <a:spcPts val="400"/>
              </a:spcBef>
              <a:defRPr sz="23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marL="616585" indent="-316230">
              <a:buClr>
                <a:srgbClr val="E6FFEB"/>
              </a:buClr>
              <a:buSzPct val="100000"/>
              <a:buChar char="•"/>
              <a:tabLst>
                <a:tab pos="609600" algn="l"/>
              </a:tabLst>
              <a:defRPr spc="65" sz="2400">
                <a:solidFill>
                  <a:srgbClr val="EDEDED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Frío:</a:t>
            </a:r>
            <a:r>
              <a:rPr spc="225"/>
              <a:t> </a:t>
            </a:r>
            <a:r>
              <a:rPr spc="60">
                <a:solidFill>
                  <a:srgbClr val="F4F4F4"/>
                </a:solidFill>
              </a:rPr>
              <a:t>Aumento</a:t>
            </a:r>
            <a:r>
              <a:rPr spc="130">
                <a:solidFill>
                  <a:srgbClr val="F4F4F4"/>
                </a:solidFill>
              </a:rPr>
              <a:t> </a:t>
            </a:r>
            <a:r>
              <a:rPr spc="110">
                <a:solidFill>
                  <a:srgbClr val="FFFFFF"/>
                </a:solidFill>
              </a:rPr>
              <a:t>por</a:t>
            </a:r>
            <a:r>
              <a:rPr spc="20">
                <a:solidFill>
                  <a:srgbClr val="FFFFFF"/>
                </a:solidFill>
              </a:rPr>
              <a:t> </a:t>
            </a:r>
            <a:r>
              <a:rPr spc="114">
                <a:solidFill>
                  <a:srgbClr val="FFFFFF"/>
                </a:solidFill>
              </a:rPr>
              <a:t>calefacción</a:t>
            </a:r>
            <a:r>
              <a:rPr spc="140">
                <a:solidFill>
                  <a:srgbClr val="FFFFFF"/>
                </a:solidFill>
              </a:rPr>
              <a:t> </a:t>
            </a:r>
            <a:r>
              <a:rPr spc="55">
                <a:solidFill>
                  <a:srgbClr val="FFFFFF"/>
                </a:solidFill>
              </a:rPr>
              <a:t>eléctrica.</a:t>
            </a:r>
          </a:p>
          <a:p>
            <a:pPr marL="626109" indent="-313054">
              <a:spcBef>
                <a:spcPts val="700"/>
              </a:spcBef>
              <a:buClr>
                <a:srgbClr val="DBFFDF"/>
              </a:buClr>
              <a:buSzPct val="100000"/>
              <a:buChar char="•"/>
              <a:tabLst>
                <a:tab pos="622300" algn="l"/>
              </a:tabLst>
              <a:defRPr sz="2400">
                <a:solidFill>
                  <a:srgbClr val="EDEDED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Confort:</a:t>
            </a:r>
            <a:r>
              <a:rPr spc="160"/>
              <a:t> </a:t>
            </a:r>
            <a:r>
              <a:rPr>
                <a:solidFill>
                  <a:srgbClr val="FFFFFF"/>
                </a:solidFill>
              </a:rPr>
              <a:t>Zona</a:t>
            </a:r>
            <a:r>
              <a:rPr spc="120">
                <a:solidFill>
                  <a:srgbClr val="FFFFFF"/>
                </a:solidFill>
              </a:rPr>
              <a:t> </a:t>
            </a:r>
            <a:r>
              <a:rPr spc="-50">
                <a:solidFill>
                  <a:srgbClr val="FFFFFF"/>
                </a:solidFill>
              </a:rPr>
              <a:t>valle</a:t>
            </a:r>
            <a:r>
              <a:rPr spc="-30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6F6F6"/>
                </a:solidFill>
              </a:rPr>
              <a:t>enfre</a:t>
            </a:r>
            <a:r>
              <a:rPr spc="-130">
                <a:solidFill>
                  <a:srgbClr val="F6F6F6"/>
                </a:solidFill>
              </a:rPr>
              <a:t> </a:t>
            </a:r>
            <a:r>
              <a:rPr spc="-254">
                <a:solidFill>
                  <a:srgbClr val="F0F0F0"/>
                </a:solidFill>
              </a:rPr>
              <a:t>15°C</a:t>
            </a:r>
            <a:r>
              <a:rPr spc="190">
                <a:solidFill>
                  <a:srgbClr val="F0F0F0"/>
                </a:solidFill>
              </a:rPr>
              <a:t> </a:t>
            </a:r>
            <a:r>
              <a:rPr>
                <a:solidFill>
                  <a:srgbClr val="F4F4F4"/>
                </a:solidFill>
              </a:rPr>
              <a:t>y</a:t>
            </a:r>
            <a:r>
              <a:rPr spc="55">
                <a:solidFill>
                  <a:srgbClr val="F4F4F4"/>
                </a:solidFill>
              </a:rPr>
              <a:t> </a:t>
            </a:r>
            <a:r>
              <a:rPr spc="-20">
                <a:solidFill>
                  <a:srgbClr val="F2F2F2"/>
                </a:solidFill>
              </a:rPr>
              <a:t>22°C</a:t>
            </a:r>
          </a:p>
          <a:p>
            <a:pPr marL="626109" indent="-313054">
              <a:spcBef>
                <a:spcPts val="700"/>
              </a:spcBef>
              <a:buClr>
                <a:srgbClr val="E2FFE9"/>
              </a:buClr>
              <a:buSzPct val="100000"/>
              <a:buChar char="•"/>
              <a:tabLst>
                <a:tab pos="622300" algn="l"/>
              </a:tabLst>
              <a:defRPr sz="2400">
                <a:solidFill>
                  <a:srgbClr val="E8FDF4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Color:</a:t>
            </a:r>
            <a:r>
              <a:rPr spc="-80"/>
              <a:t> </a:t>
            </a:r>
            <a:r>
              <a:rPr>
                <a:solidFill>
                  <a:srgbClr val="FFFFFF"/>
                </a:solidFill>
              </a:rPr>
              <a:t>Crecimiento</a:t>
            </a:r>
            <a:r>
              <a:rPr spc="-3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exponencial</a:t>
            </a:r>
            <a:r>
              <a:rPr spc="95">
                <a:solidFill>
                  <a:srgbClr val="FFFFFF"/>
                </a:solidFill>
              </a:rPr>
              <a:t> </a:t>
            </a:r>
            <a:r>
              <a:rPr>
                <a:solidFill>
                  <a:srgbClr val="EBEBEB"/>
                </a:solidFill>
              </a:rPr>
              <a:t>por</a:t>
            </a:r>
            <a:r>
              <a:rPr spc="-45">
                <a:solidFill>
                  <a:srgbClr val="EBEBEB"/>
                </a:solidFill>
              </a:rPr>
              <a:t> </a:t>
            </a:r>
            <a:r>
              <a:rPr spc="-10">
                <a:solidFill>
                  <a:srgbClr val="FFFFFF"/>
                </a:solidFill>
              </a:rPr>
              <a:t>refrigeración.</a:t>
            </a:r>
          </a:p>
          <a:p>
            <a:pPr>
              <a:spcBef>
                <a:spcPts val="100"/>
              </a:spcBef>
              <a:defRPr sz="24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3810">
              <a:defRPr spc="-185" sz="2700">
                <a:solidFill>
                  <a:srgbClr val="F2F2F2"/>
                </a:solidFill>
                <a:latin typeface="Avenir Book Oblique"/>
                <a:ea typeface="Avenir Book Oblique"/>
                <a:cs typeface="Avenir Book Oblique"/>
                <a:sym typeface="Avenir Book Oblique"/>
              </a:defRPr>
            </a:pPr>
            <a:r>
              <a:t>Inclusión</a:t>
            </a:r>
            <a:r>
              <a:rPr spc="110"/>
              <a:t> </a:t>
            </a:r>
            <a:r>
              <a:rPr spc="-65">
                <a:solidFill>
                  <a:srgbClr val="E8E8E8"/>
                </a:solidFill>
              </a:rPr>
              <a:t>de</a:t>
            </a:r>
            <a:r>
              <a:rPr spc="-95">
                <a:solidFill>
                  <a:srgbClr val="E8E8E8"/>
                </a:solidFill>
              </a:rPr>
              <a:t> </a:t>
            </a:r>
            <a:r>
              <a:rPr spc="-110"/>
              <a:t>variable</a:t>
            </a:r>
            <a:r>
              <a:rPr spc="-40"/>
              <a:t> </a:t>
            </a:r>
            <a:r>
              <a:rPr spc="-90">
                <a:solidFill>
                  <a:srgbClr val="EDEDED"/>
                </a:solidFill>
              </a:rPr>
              <a:t>cuadrática</a:t>
            </a:r>
            <a:r>
              <a:rPr spc="-5">
                <a:solidFill>
                  <a:srgbClr val="EDEDED"/>
                </a:solidFill>
              </a:rPr>
              <a:t> </a:t>
            </a:r>
            <a:r>
              <a:rPr spc="-165">
                <a:solidFill>
                  <a:srgbClr val="F6F6F6"/>
                </a:solidFill>
              </a:rPr>
              <a:t>(Temp°)</a:t>
            </a:r>
            <a:r>
              <a:rPr spc="-45">
                <a:solidFill>
                  <a:srgbClr val="F6F6F6"/>
                </a:solidFill>
              </a:rPr>
              <a:t> </a:t>
            </a:r>
            <a:r>
              <a:rPr spc="-120">
                <a:solidFill>
                  <a:srgbClr val="E8E8E8"/>
                </a:solidFill>
              </a:rPr>
              <a:t>mejora</a:t>
            </a:r>
            <a:r>
              <a:rPr spc="-125">
                <a:solidFill>
                  <a:srgbClr val="E8E8E8"/>
                </a:solidFill>
              </a:rPr>
              <a:t> </a:t>
            </a:r>
            <a:r>
              <a:rPr spc="-85">
                <a:solidFill>
                  <a:srgbClr val="FFFFFF"/>
                </a:solidFill>
              </a:rPr>
              <a:t>el</a:t>
            </a:r>
            <a:r>
              <a:rPr spc="-155">
                <a:solidFill>
                  <a:srgbClr val="727259"/>
                </a:solidFill>
              </a:rPr>
              <a:t> </a:t>
            </a:r>
            <a:r>
              <a:rPr spc="-65">
                <a:solidFill>
                  <a:srgbClr val="E9E9E9"/>
                </a:solidFill>
              </a:rPr>
              <a:t>ajuste</a:t>
            </a:r>
          </a:p>
        </p:txBody>
      </p:sp>
      <p:pic>
        <p:nvPicPr>
          <p:cNvPr id="99" name="Screenshot 2026-06-15 at 2.21.07 PM.png" descr="Screenshot 2026-06-15 at 2.21.07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974072" y="2645377"/>
            <a:ext cx="10569700" cy="631436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object 2"/>
          <p:cNvSpPr/>
          <p:nvPr/>
        </p:nvSpPr>
        <p:spPr>
          <a:xfrm>
            <a:off x="15707" y="2340242"/>
            <a:ext cx="20080539" cy="63610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2" name="object 3"/>
          <p:cNvSpPr txBox="1"/>
          <p:nvPr>
            <p:ph type="title"/>
          </p:nvPr>
        </p:nvSpPr>
        <p:spPr>
          <a:xfrm>
            <a:off x="906721" y="2105690"/>
            <a:ext cx="8140067" cy="1026795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z="5915">
                <a:latin typeface="Avenir Book"/>
                <a:ea typeface="Avenir Book"/>
                <a:cs typeface="Avenir Book"/>
                <a:sym typeface="Avenir Book"/>
              </a:defRPr>
            </a:pPr>
            <a:r>
              <a:t>Evaluación</a:t>
            </a:r>
            <a:r>
              <a:rPr spc="273"/>
              <a:t> </a:t>
            </a:r>
            <a:r>
              <a:t>de</a:t>
            </a:r>
            <a:r>
              <a:rPr spc="364"/>
              <a:t> </a:t>
            </a:r>
            <a:r>
              <a:rPr spc="-91">
                <a:solidFill>
                  <a:srgbClr val="D4F789"/>
                </a:solidFill>
              </a:rPr>
              <a:t>Modelos</a:t>
            </a:r>
          </a:p>
        </p:txBody>
      </p:sp>
      <p:grpSp>
        <p:nvGrpSpPr>
          <p:cNvPr id="105" name="object 14"/>
          <p:cNvGrpSpPr/>
          <p:nvPr/>
        </p:nvGrpSpPr>
        <p:grpSpPr>
          <a:xfrm>
            <a:off x="15704" y="5497214"/>
            <a:ext cx="20080546" cy="494750"/>
            <a:chOff x="0" y="0"/>
            <a:chExt cx="20080544" cy="494749"/>
          </a:xfrm>
        </p:grpSpPr>
        <p:pic>
          <p:nvPicPr>
            <p:cNvPr id="103" name="object 15" descr="object 15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6266826" y="15706"/>
              <a:ext cx="5465803" cy="47119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04" name="object 16"/>
            <p:cNvSpPr/>
            <p:nvPr/>
          </p:nvSpPr>
          <p:spPr>
            <a:xfrm>
              <a:off x="0" y="0"/>
              <a:ext cx="20080545" cy="494750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sp>
        <p:nvSpPr>
          <p:cNvPr id="106" name="object 19"/>
          <p:cNvSpPr/>
          <p:nvPr/>
        </p:nvSpPr>
        <p:spPr>
          <a:xfrm>
            <a:off x="15707" y="7020728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object 20"/>
          <p:cNvSpPr/>
          <p:nvPr/>
        </p:nvSpPr>
        <p:spPr>
          <a:xfrm>
            <a:off x="15707" y="7491917"/>
            <a:ext cx="20080539" cy="337687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object 21"/>
          <p:cNvSpPr txBox="1"/>
          <p:nvPr/>
        </p:nvSpPr>
        <p:spPr>
          <a:xfrm>
            <a:off x="919500" y="6939944"/>
            <a:ext cx="17907636" cy="93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12700">
              <a:spcBef>
                <a:spcPts val="900"/>
              </a:spcBef>
              <a:defRPr spc="-245" sz="25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El</a:t>
            </a:r>
            <a:r>
              <a:rPr spc="-25"/>
              <a:t> </a:t>
            </a:r>
            <a:r>
              <a:rPr spc="0"/>
              <a:t>modelo</a:t>
            </a:r>
            <a:r>
              <a:rPr spc="-180"/>
              <a:t> </a:t>
            </a:r>
            <a:r>
              <a:rPr spc="0"/>
              <a:t>de</a:t>
            </a:r>
            <a:r>
              <a:rPr spc="-180"/>
              <a:t> </a:t>
            </a:r>
            <a:r>
              <a:rPr spc="-65">
                <a:latin typeface="Avenir Heavy"/>
                <a:ea typeface="Avenir Heavy"/>
                <a:cs typeface="Avenir Heavy"/>
                <a:sym typeface="Avenir Heavy"/>
              </a:rPr>
              <a:t>Rondom</a:t>
            </a:r>
            <a:r>
              <a:rPr spc="-110">
                <a:latin typeface="Avenir Heavy"/>
                <a:ea typeface="Avenir Heavy"/>
                <a:cs typeface="Avenir Heavy"/>
                <a:sym typeface="Avenir Heavy"/>
              </a:rPr>
              <a:t> </a:t>
            </a:r>
            <a:r>
              <a:rPr spc="-104">
                <a:latin typeface="Avenir Heavy"/>
                <a:ea typeface="Avenir Heavy"/>
                <a:cs typeface="Avenir Heavy"/>
                <a:sym typeface="Avenir Heavy"/>
              </a:rPr>
              <a:t>Forest</a:t>
            </a:r>
            <a:r>
              <a:rPr spc="-75"/>
              <a:t> </a:t>
            </a:r>
            <a:r>
              <a:rPr spc="-40"/>
              <a:t>con</a:t>
            </a:r>
            <a:r>
              <a:rPr spc="-204"/>
              <a:t> </a:t>
            </a:r>
            <a:r>
              <a:rPr spc="-80"/>
              <a:t>Rezagos</a:t>
            </a:r>
            <a:r>
              <a:rPr spc="-100"/>
              <a:t> </a:t>
            </a:r>
            <a:r>
              <a:rPr spc="-104"/>
              <a:t>superó</a:t>
            </a:r>
            <a:r>
              <a:rPr spc="-70"/>
              <a:t> </a:t>
            </a:r>
            <a:r>
              <a:rPr spc="70"/>
              <a:t>a</a:t>
            </a:r>
            <a:r>
              <a:rPr spc="-180"/>
              <a:t> </a:t>
            </a:r>
            <a:r>
              <a:rPr spc="-110"/>
              <a:t>los</a:t>
            </a:r>
            <a:r>
              <a:rPr spc="-65"/>
              <a:t> </a:t>
            </a:r>
            <a:r>
              <a:rPr spc="-25"/>
              <a:t>modelos</a:t>
            </a:r>
            <a:r>
              <a:rPr spc="-135"/>
              <a:t> </a:t>
            </a:r>
            <a:r>
              <a:rPr spc="-35"/>
              <a:t>estadísticos</a:t>
            </a:r>
            <a:r>
              <a:rPr spc="100"/>
              <a:t> t</a:t>
            </a:r>
            <a:r>
              <a:rPr spc="-55"/>
              <a:t>radicionales,</a:t>
            </a:r>
            <a:r>
              <a:rPr spc="-160"/>
              <a:t> </a:t>
            </a:r>
            <a:r>
              <a:rPr spc="-10"/>
              <a:t>capturando</a:t>
            </a:r>
            <a:r>
              <a:rPr spc="20"/>
              <a:t> </a:t>
            </a:r>
            <a:r>
              <a:rPr spc="0"/>
              <a:t>mejor</a:t>
            </a:r>
            <a:r>
              <a:rPr spc="-75"/>
              <a:t> </a:t>
            </a:r>
            <a:r>
              <a:rPr spc="-45"/>
              <a:t>las</a:t>
            </a:r>
            <a:r>
              <a:rPr spc="-135"/>
              <a:t> </a:t>
            </a:r>
            <a:r>
              <a:rPr spc="-50"/>
              <a:t>interacciones</a:t>
            </a:r>
            <a:r>
              <a:rPr spc="125"/>
              <a:t> </a:t>
            </a:r>
            <a:r>
              <a:rPr spc="-25"/>
              <a:t>no</a:t>
            </a:r>
          </a:p>
          <a:p>
            <a:pPr indent="15240">
              <a:spcBef>
                <a:spcPts val="700"/>
              </a:spcBef>
              <a:defRPr spc="50" sz="2400">
                <a:solidFill>
                  <a:srgbClr val="FFFFFF"/>
                </a:solidFill>
                <a:latin typeface="Avenir Book"/>
                <a:ea typeface="Avenir Book"/>
                <a:cs typeface="Avenir Book"/>
                <a:sym typeface="Avenir Book"/>
              </a:defRPr>
            </a:pPr>
            <a:r>
              <a:t>lineales</a:t>
            </a:r>
            <a:r>
              <a:rPr spc="170"/>
              <a:t> </a:t>
            </a:r>
            <a:r>
              <a:rPr spc="70"/>
              <a:t>de</a:t>
            </a:r>
            <a:r>
              <a:rPr spc="234"/>
              <a:t> la t</a:t>
            </a:r>
            <a:r>
              <a:t>emperatura.</a:t>
            </a:r>
          </a:p>
        </p:txBody>
      </p:sp>
      <p:pic>
        <p:nvPicPr>
          <p:cNvPr id="109" name="Screenshot 2026-06-15 at 2.42.22 PM.png" descr="Screenshot 2026-06-15 at 2.42.22 P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35667" y="3688146"/>
            <a:ext cx="18275301" cy="25400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object 8"/>
          <p:cNvSpPr/>
          <p:nvPr/>
        </p:nvSpPr>
        <p:spPr>
          <a:xfrm>
            <a:off x="15707" y="769609"/>
            <a:ext cx="20080539" cy="636108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2" name="object 9"/>
          <p:cNvSpPr txBox="1"/>
          <p:nvPr>
            <p:ph type="title"/>
          </p:nvPr>
        </p:nvSpPr>
        <p:spPr>
          <a:xfrm>
            <a:off x="932197" y="551417"/>
            <a:ext cx="8392160" cy="1007112"/>
          </a:xfrm>
          <a:prstGeom prst="rect">
            <a:avLst/>
          </a:prstGeom>
        </p:spPr>
        <p:txBody>
          <a:bodyPr/>
          <a:lstStyle/>
          <a:p>
            <a:pPr indent="11557" defTabSz="832104">
              <a:defRPr spc="-182" sz="5824">
                <a:latin typeface="Avenir Book"/>
                <a:ea typeface="Avenir Book"/>
                <a:cs typeface="Avenir Book"/>
                <a:sym typeface="Avenir Book"/>
              </a:defRPr>
            </a:pPr>
            <a:r>
              <a:t>Simulación</a:t>
            </a:r>
            <a:r>
              <a:rPr spc="-273"/>
              <a:t> </a:t>
            </a:r>
            <a:r>
              <a:rPr spc="-91">
                <a:solidFill>
                  <a:srgbClr val="DBFFA1"/>
                </a:solidFill>
              </a:rPr>
              <a:t>Monte</a:t>
            </a:r>
            <a:r>
              <a:rPr spc="-455">
                <a:solidFill>
                  <a:srgbClr val="DBFFA1"/>
                </a:solidFill>
              </a:rPr>
              <a:t> </a:t>
            </a:r>
            <a:r>
              <a:rPr spc="-91">
                <a:solidFill>
                  <a:srgbClr val="DFFF97"/>
                </a:solidFill>
              </a:rPr>
              <a:t>Carlo</a:t>
            </a:r>
          </a:p>
        </p:txBody>
      </p:sp>
      <p:sp>
        <p:nvSpPr>
          <p:cNvPr id="113" name="object 10"/>
          <p:cNvSpPr txBox="1"/>
          <p:nvPr/>
        </p:nvSpPr>
        <p:spPr>
          <a:xfrm>
            <a:off x="10930983" y="2561465"/>
            <a:ext cx="8458201" cy="48325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>
              <a:spcBef>
                <a:spcPts val="2000"/>
              </a:spcBef>
              <a:defRPr sz="2200">
                <a:latin typeface="Avenir Book"/>
                <a:ea typeface="Avenir Book"/>
                <a:cs typeface="Avenir Book"/>
                <a:sym typeface="Avenir Book"/>
              </a:defRPr>
            </a:pPr>
          </a:p>
          <a:p>
            <a:pPr indent="635">
              <a:defRPr sz="24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  <a:r>
              <a:t>   Gestión</a:t>
            </a:r>
            <a:r>
              <a:rPr spc="49"/>
              <a:t> </a:t>
            </a:r>
            <a:r>
              <a:t>de</a:t>
            </a:r>
            <a:r>
              <a:rPr spc="234"/>
              <a:t> </a:t>
            </a:r>
            <a:r>
              <a:rPr spc="92"/>
              <a:t>Incertidumbre</a:t>
            </a:r>
            <a:endParaRPr spc="92"/>
          </a:p>
          <a:p>
            <a:pPr indent="635">
              <a:defRPr sz="2400">
                <a:solidFill>
                  <a:srgbClr val="FFFFFF"/>
                </a:solidFill>
                <a:latin typeface="Avenir Heavy"/>
                <a:ea typeface="Avenir Heavy"/>
                <a:cs typeface="Avenir Heavy"/>
                <a:sym typeface="Avenir Heavy"/>
              </a:defRPr>
            </a:pPr>
          </a:p>
          <a:p>
            <a:pPr marL="541019" indent="-228600">
              <a:lnSpc>
                <a:spcPct val="200000"/>
              </a:lnSpc>
              <a:buClr>
                <a:srgbClr val="DBFFDF"/>
              </a:buClr>
              <a:buSzPct val="100000"/>
              <a:buChar char="•"/>
              <a:defRPr sz="2400">
                <a:solidFill>
                  <a:srgbClr val="FFFFFF"/>
                </a:solidFill>
              </a:defRPr>
            </a:pPr>
            <a:r>
              <a:t>1000</a:t>
            </a:r>
            <a:r>
              <a:rPr spc="225"/>
              <a:t> </a:t>
            </a:r>
            <a:r>
              <a:t>trayectorias</a:t>
            </a:r>
            <a:r>
              <a:rPr spc="344"/>
              <a:t> </a:t>
            </a:r>
            <a:r>
              <a:rPr spc="-10"/>
              <a:t>simuladas</a:t>
            </a:r>
            <a:r>
              <a:rPr spc="229"/>
              <a:t> </a:t>
            </a:r>
            <a:r>
              <a:t>basadas</a:t>
            </a:r>
            <a:r>
              <a:rPr spc="195"/>
              <a:t> </a:t>
            </a:r>
            <a:r>
              <a:t>en</a:t>
            </a:r>
            <a:r>
              <a:rPr spc="-70"/>
              <a:t> </a:t>
            </a:r>
            <a:r>
              <a:t>la</a:t>
            </a:r>
            <a:r>
              <a:rPr spc="120"/>
              <a:t> </a:t>
            </a:r>
            <a:r>
              <a:rPr spc="-10"/>
              <a:t>volatilidad 	histórica.</a:t>
            </a:r>
          </a:p>
          <a:p>
            <a:pPr marL="539648" indent="-227228">
              <a:lnSpc>
                <a:spcPct val="200000"/>
              </a:lnSpc>
              <a:buClr>
                <a:srgbClr val="D1FFDD"/>
              </a:buClr>
              <a:buSzPct val="100000"/>
              <a:buChar char="•"/>
              <a:defRPr sz="2400">
                <a:solidFill>
                  <a:srgbClr val="FFFFFF"/>
                </a:solidFill>
              </a:defRPr>
            </a:pPr>
            <a:r>
              <a:rPr b="1"/>
              <a:t>Confianza</a:t>
            </a:r>
            <a:r>
              <a:t>:</a:t>
            </a:r>
            <a:r>
              <a:rPr spc="-134"/>
              <a:t> </a:t>
            </a:r>
            <a:r>
              <a:rPr spc="-240"/>
              <a:t>El</a:t>
            </a:r>
            <a:r>
              <a:rPr spc="-24"/>
              <a:t> </a:t>
            </a:r>
            <a:r>
              <a:rPr spc="-219"/>
              <a:t>70 %</a:t>
            </a:r>
            <a:r>
              <a:rPr spc="-38"/>
              <a:t> </a:t>
            </a:r>
            <a:r>
              <a:t>de</a:t>
            </a:r>
            <a:r>
              <a:rPr spc="-172"/>
              <a:t> </a:t>
            </a:r>
            <a:r>
              <a:rPr spc="-96"/>
              <a:t>los</a:t>
            </a:r>
            <a:r>
              <a:rPr spc="-72"/>
              <a:t> </a:t>
            </a:r>
            <a:r>
              <a:t>datos</a:t>
            </a:r>
            <a:r>
              <a:rPr spc="-62"/>
              <a:t> reales</a:t>
            </a:r>
            <a:r>
              <a:rPr spc="-9"/>
              <a:t> </a:t>
            </a:r>
            <a:r>
              <a:rPr spc="-62"/>
              <a:t>cayeron</a:t>
            </a:r>
            <a:r>
              <a:rPr spc="-33"/>
              <a:t> </a:t>
            </a:r>
            <a:r>
              <a:t>dentro</a:t>
            </a:r>
            <a:r>
              <a:rPr spc="-81"/>
              <a:t> </a:t>
            </a:r>
            <a:r>
              <a:rPr spc="-24"/>
              <a:t>del </a:t>
            </a:r>
            <a:r>
              <a:t>intervalo</a:t>
            </a:r>
            <a:r>
              <a:rPr spc="55"/>
              <a:t> </a:t>
            </a:r>
            <a:r>
              <a:rPr spc="-95"/>
              <a:t>25-</a:t>
            </a:r>
            <a:r>
              <a:rPr spc="-25"/>
              <a:t>75%</a:t>
            </a:r>
          </a:p>
          <a:p>
            <a:pPr marL="535355" indent="-223570">
              <a:lnSpc>
                <a:spcPct val="200000"/>
              </a:lnSpc>
              <a:buSzPct val="100000"/>
              <a:buChar char="•"/>
              <a:defRPr sz="2400">
                <a:solidFill>
                  <a:srgbClr val="FFFFFF"/>
                </a:solidFill>
              </a:defRPr>
            </a:pPr>
            <a:r>
              <a:rPr b="1" spc="-72"/>
              <a:t>Conclusión</a:t>
            </a:r>
            <a:r>
              <a:rPr spc="-72"/>
              <a:t>:</a:t>
            </a:r>
            <a:r>
              <a:rPr spc="-100"/>
              <a:t> </a:t>
            </a:r>
            <a:r>
              <a:rPr spc="-235"/>
              <a:t>El</a:t>
            </a:r>
            <a:r>
              <a:rPr spc="-14"/>
              <a:t> </a:t>
            </a:r>
            <a:r>
              <a:rPr spc="-9"/>
              <a:t>modelo</a:t>
            </a:r>
            <a:r>
              <a:rPr spc="-163"/>
              <a:t> </a:t>
            </a:r>
            <a:r>
              <a:rPr spc="-129"/>
              <a:t>es</a:t>
            </a:r>
            <a:r>
              <a:rPr spc="-38"/>
              <a:t> </a:t>
            </a:r>
            <a:r>
              <a:rPr spc="-67"/>
              <a:t>conservador,</a:t>
            </a:r>
            <a:r>
              <a:rPr spc="4"/>
              <a:t> </a:t>
            </a:r>
            <a:r>
              <a:rPr spc="-9"/>
              <a:t>ideal</a:t>
            </a:r>
            <a:r>
              <a:rPr spc="-100"/>
              <a:t> </a:t>
            </a:r>
            <a:r>
              <a:rPr spc="-19"/>
              <a:t>para planificación</a:t>
            </a:r>
            <a:r>
              <a:rPr spc="-52"/>
              <a:t> </a:t>
            </a:r>
            <a:r>
              <a:rPr spc="-9"/>
              <a:t>energética.</a:t>
            </a:r>
          </a:p>
        </p:txBody>
      </p:sp>
      <p:pic>
        <p:nvPicPr>
          <p:cNvPr id="114" name="Screenshot 2026-06-15 at 2.21.56 PM.png" descr="Screenshot 2026-06-15 at 2.21.56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92353" y="2225795"/>
            <a:ext cx="10130652" cy="79659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object 2"/>
          <p:cNvSpPr txBox="1"/>
          <p:nvPr>
            <p:ph type="ctrTitle"/>
          </p:nvPr>
        </p:nvSpPr>
        <p:spPr>
          <a:xfrm>
            <a:off x="6466985" y="3362850"/>
            <a:ext cx="6955791" cy="1478280"/>
          </a:xfrm>
          <a:prstGeom prst="rect">
            <a:avLst/>
          </a:prstGeom>
        </p:spPr>
        <p:txBody>
          <a:bodyPr/>
          <a:lstStyle>
            <a:lvl1pPr indent="12700">
              <a:spcBef>
                <a:spcPts val="100"/>
              </a:spcBef>
              <a:defRPr spc="-100" sz="9500"/>
            </a:lvl1pPr>
          </a:lstStyle>
          <a:p>
            <a:pPr/>
            <a:r>
              <a:t>¿Preguntas?</a:t>
            </a:r>
          </a:p>
        </p:txBody>
      </p:sp>
      <p:sp>
        <p:nvSpPr>
          <p:cNvPr id="117" name="object 3"/>
          <p:cNvSpPr/>
          <p:nvPr/>
        </p:nvSpPr>
        <p:spPr>
          <a:xfrm>
            <a:off x="6109761" y="5324445"/>
            <a:ext cx="7892431" cy="30627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8" name="object 4"/>
          <p:cNvSpPr txBox="1"/>
          <p:nvPr/>
        </p:nvSpPr>
        <p:spPr>
          <a:xfrm>
            <a:off x="6105395" y="5228145"/>
            <a:ext cx="7887970" cy="357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12700">
              <a:spcBef>
                <a:spcPts val="100"/>
              </a:spcBef>
              <a:defRPr spc="-90" sz="2500">
                <a:solidFill>
                  <a:srgbClr val="E4E4E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Análisis</a:t>
            </a:r>
            <a:r>
              <a:rPr spc="-45"/>
              <a:t> </a:t>
            </a:r>
            <a:r>
              <a:rPr spc="0">
                <a:solidFill>
                  <a:srgbClr val="E9E9E9"/>
                </a:solidFill>
              </a:rPr>
              <a:t>de</a:t>
            </a:r>
            <a:r>
              <a:rPr spc="-160">
                <a:solidFill>
                  <a:srgbClr val="E9E9E9"/>
                </a:solidFill>
              </a:rPr>
              <a:t> s</a:t>
            </a:r>
            <a:r>
              <a:rPr spc="-104">
                <a:solidFill>
                  <a:srgbClr val="EBEBEB"/>
                </a:solidFill>
              </a:rPr>
              <a:t>eries</a:t>
            </a:r>
            <a:r>
              <a:rPr spc="-40">
                <a:solidFill>
                  <a:srgbClr val="EBEBEB"/>
                </a:solidFill>
              </a:rPr>
              <a:t> </a:t>
            </a:r>
            <a:r>
              <a:rPr spc="0">
                <a:solidFill>
                  <a:srgbClr val="E9E9E9"/>
                </a:solidFill>
              </a:rPr>
              <a:t>de</a:t>
            </a:r>
            <a:r>
              <a:rPr spc="-110">
                <a:solidFill>
                  <a:srgbClr val="E9E9E9"/>
                </a:solidFill>
              </a:rPr>
              <a:t> t</a:t>
            </a:r>
            <a:r>
              <a:rPr spc="0">
                <a:solidFill>
                  <a:srgbClr val="F6F6F6"/>
                </a:solidFill>
              </a:rPr>
              <a:t>iempo</a:t>
            </a:r>
            <a:r>
              <a:rPr spc="30">
                <a:solidFill>
                  <a:srgbClr val="F6F6F6"/>
                </a:solidFill>
              </a:rPr>
              <a:t> a</a:t>
            </a:r>
            <a:r>
              <a:rPr spc="-20">
                <a:solidFill>
                  <a:srgbClr val="EFEFEF"/>
                </a:solidFill>
              </a:rPr>
              <a:t>plicado</a:t>
            </a:r>
            <a:r>
              <a:rPr spc="-55">
                <a:solidFill>
                  <a:srgbClr val="EFEFEF"/>
                </a:solidFill>
              </a:rPr>
              <a:t> </a:t>
            </a:r>
            <a:r>
              <a:rPr spc="0">
                <a:solidFill>
                  <a:srgbClr val="EFEFEF"/>
                </a:solidFill>
              </a:rPr>
              <a:t>al</a:t>
            </a:r>
            <a:r>
              <a:rPr spc="-125">
                <a:solidFill>
                  <a:srgbClr val="EFEFEF"/>
                </a:solidFill>
              </a:rPr>
              <a:t> s</a:t>
            </a:r>
            <a:r>
              <a:rPr spc="-40">
                <a:solidFill>
                  <a:srgbClr val="F6F6F6"/>
                </a:solidFill>
              </a:rPr>
              <a:t>ector</a:t>
            </a:r>
            <a:r>
              <a:rPr>
                <a:solidFill>
                  <a:srgbClr val="F6F6F6"/>
                </a:solidFill>
              </a:rPr>
              <a:t> e</a:t>
            </a:r>
            <a:r>
              <a:rPr spc="-45">
                <a:solidFill>
                  <a:srgbClr val="EBEBEB"/>
                </a:solidFill>
              </a:rPr>
              <a:t>léctrico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