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0104100" cy="11303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 object 16"/>
          <p:cNvSpPr/>
          <p:nvPr/>
        </p:nvSpPr>
        <p:spPr>
          <a:xfrm>
            <a:off x="6573097" y="3683134"/>
            <a:ext cx="6934346" cy="121724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" name="Title Text"/>
          <p:cNvSpPr txBox="1"/>
          <p:nvPr>
            <p:ph type="title"/>
          </p:nvPr>
        </p:nvSpPr>
        <p:spPr>
          <a:xfrm>
            <a:off x="6466985" y="3362850"/>
            <a:ext cx="6955792" cy="147828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3015613" y="6333235"/>
            <a:ext cx="14072873" cy="282734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half" idx="1"/>
          </p:nvPr>
        </p:nvSpPr>
        <p:spPr>
          <a:xfrm>
            <a:off x="10366175" y="3376860"/>
            <a:ext cx="8458201" cy="550545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half" idx="1"/>
          </p:nvPr>
        </p:nvSpPr>
        <p:spPr>
          <a:xfrm>
            <a:off x="10366175" y="3376860"/>
            <a:ext cx="8458201" cy="550545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2419" y="535057"/>
            <a:ext cx="10010769" cy="102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005205" y="2601148"/>
            <a:ext cx="8745285" cy="746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8831924" y="10517695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5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github.com/alexisbarnique/ceia-ast-tpf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2"/>
          <p:cNvSpPr/>
          <p:nvPr/>
        </p:nvSpPr>
        <p:spPr>
          <a:xfrm>
            <a:off x="15705" y="2874258"/>
            <a:ext cx="20080542" cy="87170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" name="object 3"/>
          <p:cNvSpPr txBox="1"/>
          <p:nvPr>
            <p:ph type="title"/>
          </p:nvPr>
        </p:nvSpPr>
        <p:spPr>
          <a:xfrm>
            <a:off x="1900149" y="2548083"/>
            <a:ext cx="16188695" cy="1419865"/>
          </a:xfrm>
          <a:prstGeom prst="rect">
            <a:avLst/>
          </a:prstGeom>
        </p:spPr>
        <p:txBody>
          <a:bodyPr/>
          <a:lstStyle/>
          <a:p>
            <a:pPr indent="11426" defTabSz="822958">
              <a:defRPr spc="-100" sz="81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Pronóstico</a:t>
            </a:r>
            <a:r>
              <a:rPr spc="200"/>
              <a:t> </a:t>
            </a:r>
            <a:r>
              <a:rPr spc="300"/>
              <a:t>de</a:t>
            </a:r>
            <a:r>
              <a:rPr spc="-500"/>
              <a:t> </a:t>
            </a:r>
            <a:r>
              <a:rPr spc="0">
                <a:solidFill>
                  <a:srgbClr val="D783FF"/>
                </a:solidFill>
              </a:rPr>
              <a:t>Demanda</a:t>
            </a:r>
            <a:r>
              <a:rPr spc="100">
                <a:solidFill>
                  <a:srgbClr val="D783FF"/>
                </a:solidFill>
              </a:rPr>
              <a:t> </a:t>
            </a:r>
            <a:r>
              <a:rPr spc="0">
                <a:solidFill>
                  <a:srgbClr val="D783FF"/>
                </a:solidFill>
              </a:rPr>
              <a:t>Eléctrica</a:t>
            </a:r>
          </a:p>
        </p:txBody>
      </p:sp>
      <p:sp>
        <p:nvSpPr>
          <p:cNvPr id="67" name="object 4"/>
          <p:cNvSpPr/>
          <p:nvPr/>
        </p:nvSpPr>
        <p:spPr>
          <a:xfrm>
            <a:off x="15705" y="4256413"/>
            <a:ext cx="20080542" cy="82458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" name="object 5"/>
          <p:cNvSpPr txBox="1"/>
          <p:nvPr/>
        </p:nvSpPr>
        <p:spPr>
          <a:xfrm>
            <a:off x="8908626" y="3882637"/>
            <a:ext cx="2162176" cy="16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950" sz="9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GBA</a:t>
            </a:r>
          </a:p>
        </p:txBody>
      </p:sp>
      <p:sp>
        <p:nvSpPr>
          <p:cNvPr id="69" name="object 6"/>
          <p:cNvSpPr/>
          <p:nvPr/>
        </p:nvSpPr>
        <p:spPr>
          <a:xfrm>
            <a:off x="15705" y="5748516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" name="object 8"/>
          <p:cNvSpPr txBox="1"/>
          <p:nvPr/>
        </p:nvSpPr>
        <p:spPr>
          <a:xfrm>
            <a:off x="5428665" y="5667921"/>
            <a:ext cx="9222742" cy="337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635" algn="ctr">
              <a:spcBef>
                <a:spcPts val="100"/>
              </a:spcBef>
              <a:defRPr spc="-60"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CEIA</a:t>
            </a:r>
            <a:r>
              <a:rPr spc="65"/>
              <a:t> </a:t>
            </a:r>
            <a:r>
              <a:rPr spc="0"/>
              <a:t>-</a:t>
            </a:r>
            <a:r>
              <a:rPr spc="-65"/>
              <a:t> </a:t>
            </a:r>
            <a:r>
              <a:rPr spc="-90"/>
              <a:t>Análisis</a:t>
            </a:r>
            <a:r>
              <a:rPr spc="20"/>
              <a:t> </a:t>
            </a:r>
            <a:r>
              <a:rPr spc="0"/>
              <a:t>de</a:t>
            </a:r>
            <a:r>
              <a:rPr spc="-110"/>
              <a:t> s</a:t>
            </a:r>
            <a:r>
              <a:rPr spc="-104"/>
              <a:t>eries</a:t>
            </a:r>
            <a:r>
              <a:rPr spc="20"/>
              <a:t> </a:t>
            </a:r>
            <a:r>
              <a:rPr spc="0"/>
              <a:t>de</a:t>
            </a:r>
            <a:r>
              <a:rPr spc="-55"/>
              <a:t> t</a:t>
            </a:r>
            <a:r>
              <a:rPr spc="-10"/>
              <a:t>iempo</a:t>
            </a:r>
          </a:p>
          <a:p>
            <a:pPr>
              <a:defRPr spc="-10"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algn="ctr">
              <a:defRPr spc="-120"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Un</a:t>
            </a:r>
            <a:r>
              <a:rPr spc="-60"/>
              <a:t> </a:t>
            </a:r>
            <a:r>
              <a:rPr spc="0"/>
              <a:t>enfoque</a:t>
            </a:r>
            <a:r>
              <a:rPr spc="-140"/>
              <a:t> </a:t>
            </a:r>
            <a:r>
              <a:rPr spc="0"/>
              <a:t>híbrido</a:t>
            </a:r>
            <a:r>
              <a:rPr spc="-90"/>
              <a:t> </a:t>
            </a:r>
            <a:r>
              <a:rPr spc="0"/>
              <a:t>entre</a:t>
            </a:r>
            <a:r>
              <a:rPr spc="-85"/>
              <a:t> m</a:t>
            </a:r>
            <a:r>
              <a:rPr spc="0"/>
              <a:t>odelos</a:t>
            </a:r>
            <a:r>
              <a:rPr spc="5"/>
              <a:t> e</a:t>
            </a:r>
            <a:r>
              <a:rPr spc="-35"/>
              <a:t>stadísticos</a:t>
            </a:r>
            <a:r>
              <a:rPr spc="175"/>
              <a:t> </a:t>
            </a:r>
            <a:r>
              <a:rPr spc="0"/>
              <a:t>y</a:t>
            </a:r>
            <a:r>
              <a:rPr spc="-95"/>
              <a:t> M</a:t>
            </a:r>
            <a:r>
              <a:rPr spc="0"/>
              <a:t>achine</a:t>
            </a:r>
            <a:r>
              <a:rPr spc="-35"/>
              <a:t> Learning</a:t>
            </a:r>
          </a:p>
          <a:p>
            <a:pPr algn="ctr">
              <a:defRPr spc="-35"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defRPr spc="-35" sz="24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Integrantes:</a:t>
            </a:r>
            <a:br/>
            <a:r>
              <a:rPr spc="-120">
                <a:latin typeface="Avenir Book"/>
                <a:ea typeface="Avenir Book"/>
                <a:cs typeface="Avenir Book"/>
                <a:sym typeface="Avenir Book"/>
              </a:rPr>
              <a:t>Alexis Barniquez</a:t>
            </a:r>
            <a:endParaRPr spc="-120"/>
          </a:p>
          <a:p>
            <a:pPr>
              <a:defRPr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Barbara Cerezo</a:t>
            </a:r>
          </a:p>
          <a:p>
            <a:pPr>
              <a:defRPr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Daniel Paniagua</a:t>
            </a:r>
          </a:p>
        </p:txBody>
      </p:sp>
      <p:pic>
        <p:nvPicPr>
          <p:cNvPr id="71" name="Screenshot 2026-06-15 at 2.26.49 PM.png" descr="Screenshot 2026-06-15 at 2.26.4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57337" y="7593372"/>
            <a:ext cx="3427609" cy="1289287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Link al repositorio"/>
          <p:cNvSpPr txBox="1"/>
          <p:nvPr/>
        </p:nvSpPr>
        <p:spPr>
          <a:xfrm>
            <a:off x="8396399" y="9743502"/>
            <a:ext cx="2959223" cy="36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u="sng">
                <a:solidFill>
                  <a:srgbClr val="FF4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 u="none">
                <a:uFillTx/>
              </a:defRPr>
            </a:pPr>
            <a:r>
              <a:rPr u="sng"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Link al repositorio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bject 8"/>
          <p:cNvSpPr/>
          <p:nvPr/>
        </p:nvSpPr>
        <p:spPr>
          <a:xfrm>
            <a:off x="15705" y="816729"/>
            <a:ext cx="20080542" cy="77746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" name="object 9"/>
          <p:cNvSpPr txBox="1"/>
          <p:nvPr>
            <p:ph type="title"/>
          </p:nvPr>
        </p:nvSpPr>
        <p:spPr>
          <a:xfrm>
            <a:off x="912418" y="535056"/>
            <a:ext cx="10010769" cy="1026798"/>
          </a:xfrm>
          <a:prstGeom prst="rect">
            <a:avLst/>
          </a:prstGeom>
        </p:spPr>
        <p:txBody>
          <a:bodyPr/>
          <a:lstStyle/>
          <a:p>
            <a:pPr indent="12265" defTabSz="841247">
              <a:defRPr spc="-100" sz="58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Dataset</a:t>
            </a:r>
            <a:r>
              <a:rPr spc="-200"/>
              <a:t> </a:t>
            </a:r>
            <a:r>
              <a:rPr spc="0"/>
              <a:t>y</a:t>
            </a:r>
            <a:r>
              <a:rPr spc="-500"/>
              <a:t> </a:t>
            </a:r>
            <a:r>
              <a:rPr spc="-200">
                <a:solidFill>
                  <a:srgbClr val="D783FF"/>
                </a:solidFill>
              </a:rPr>
              <a:t>Preprocesamiento</a:t>
            </a:r>
          </a:p>
        </p:txBody>
      </p:sp>
      <p:sp>
        <p:nvSpPr>
          <p:cNvPr id="76" name="object 16"/>
          <p:cNvSpPr txBox="1"/>
          <p:nvPr/>
        </p:nvSpPr>
        <p:spPr>
          <a:xfrm>
            <a:off x="1478599" y="2537281"/>
            <a:ext cx="7311391" cy="5083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spcBef>
                <a:spcPts val="2300"/>
              </a:spcBef>
              <a:defRPr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54467" marR="129539" indent="-250657">
              <a:lnSpc>
                <a:spcPct val="121200"/>
              </a:lnSpc>
              <a:buSzPct val="100000"/>
              <a:buChar char="•"/>
              <a:defRPr spc="-20" sz="2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Origen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:</a:t>
            </a:r>
            <a:r>
              <a:rPr spc="-16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25">
                <a:latin typeface="Avenir Book"/>
                <a:ea typeface="Avenir Book"/>
                <a:cs typeface="Avenir Book"/>
                <a:sym typeface="Avenir Book"/>
              </a:rPr>
              <a:t>Datos</a:t>
            </a:r>
            <a:r>
              <a:rPr spc="-9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0">
                <a:latin typeface="Avenir Book"/>
                <a:ea typeface="Avenir Book"/>
                <a:cs typeface="Avenir Book"/>
                <a:sym typeface="Avenir Book"/>
              </a:rPr>
              <a:t>de</a:t>
            </a:r>
            <a:r>
              <a:rPr spc="-18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0">
                <a:latin typeface="Avenir Book"/>
                <a:ea typeface="Avenir Book"/>
                <a:cs typeface="Avenir Book"/>
                <a:sym typeface="Avenir Book"/>
              </a:rPr>
              <a:t>demanda</a:t>
            </a:r>
            <a:r>
              <a:rPr spc="-1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0">
                <a:latin typeface="Avenir Book"/>
                <a:ea typeface="Avenir Book"/>
                <a:cs typeface="Avenir Book"/>
                <a:sym typeface="Avenir Book"/>
              </a:rPr>
              <a:t>eléctrica</a:t>
            </a:r>
            <a:r>
              <a:rPr spc="4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0">
                <a:latin typeface="Avenir Book"/>
                <a:ea typeface="Avenir Book"/>
                <a:cs typeface="Avenir Book"/>
                <a:sym typeface="Avenir Book"/>
              </a:rPr>
              <a:t>y</a:t>
            </a:r>
            <a:r>
              <a:rPr spc="-70">
                <a:latin typeface="Avenir Book"/>
                <a:ea typeface="Avenir Book"/>
                <a:cs typeface="Avenir Book"/>
                <a:sym typeface="Avenir Book"/>
              </a:rPr>
              <a:t> t</a:t>
            </a:r>
            <a:r>
              <a:rPr spc="-10">
                <a:latin typeface="Avenir Book"/>
                <a:ea typeface="Avenir Book"/>
                <a:cs typeface="Avenir Book"/>
                <a:sym typeface="Avenir Book"/>
              </a:rPr>
              <a:t>emperatura aparente.</a:t>
            </a:r>
          </a:p>
          <a:p>
            <a:pPr marL="250657" marR="524509" indent="-250657">
              <a:lnSpc>
                <a:spcPct val="121200"/>
              </a:lnSpc>
              <a:buSzPct val="100000"/>
              <a:buChar char="•"/>
              <a:defRPr spc="-10" sz="2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Periodicidad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:</a:t>
            </a:r>
            <a:r>
              <a:rPr spc="-9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65">
                <a:latin typeface="Avenir Book"/>
                <a:ea typeface="Avenir Book"/>
                <a:cs typeface="Avenir Book"/>
                <a:sym typeface="Avenir Book"/>
              </a:rPr>
              <a:t>Resampleo</a:t>
            </a:r>
            <a:r>
              <a:rPr spc="-2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30">
                <a:latin typeface="Avenir Book"/>
                <a:ea typeface="Avenir Book"/>
                <a:cs typeface="Avenir Book"/>
                <a:sym typeface="Avenir Book"/>
              </a:rPr>
              <a:t>semanal</a:t>
            </a:r>
            <a:r>
              <a:rPr spc="-8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0">
                <a:latin typeface="Avenir Book"/>
                <a:ea typeface="Avenir Book"/>
                <a:cs typeface="Avenir Book"/>
                <a:sym typeface="Avenir Book"/>
              </a:rPr>
              <a:t>para</a:t>
            </a:r>
            <a:r>
              <a:rPr spc="-15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capturar estacionalidad</a:t>
            </a:r>
            <a:r>
              <a:rPr spc="-13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anual.</a:t>
            </a:r>
          </a:p>
          <a:p>
            <a:pPr marL="258445" marR="20320" indent="-228600">
              <a:lnSpc>
                <a:spcPct val="121200"/>
              </a:lnSpc>
              <a:buSzPct val="100000"/>
              <a:buChar char="•"/>
              <a:defRPr spc="-10" sz="2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Variables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:</a:t>
            </a:r>
            <a:r>
              <a:rPr spc="-17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0">
                <a:latin typeface="Avenir Book"/>
                <a:ea typeface="Avenir Book"/>
                <a:cs typeface="Avenir Book"/>
                <a:sym typeface="Avenir Book"/>
              </a:rPr>
              <a:t>Demanda</a:t>
            </a:r>
            <a:r>
              <a:rPr spc="-5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160">
                <a:latin typeface="Avenir Book"/>
                <a:ea typeface="Avenir Book"/>
                <a:cs typeface="Avenir Book"/>
                <a:sym typeface="Avenir Book"/>
              </a:rPr>
              <a:t>(MWh),</a:t>
            </a:r>
            <a:r>
              <a:rPr spc="-1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40">
                <a:latin typeface="Avenir Book"/>
                <a:ea typeface="Avenir Book"/>
                <a:cs typeface="Avenir Book"/>
                <a:sym typeface="Avenir Book"/>
              </a:rPr>
              <a:t>Temperatura</a:t>
            </a:r>
            <a:r>
              <a:rPr spc="-8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100">
                <a:latin typeface="Avenir Book"/>
                <a:ea typeface="Avenir Book"/>
                <a:cs typeface="Avenir Book"/>
                <a:sym typeface="Avenir Book"/>
              </a:rPr>
              <a:t>Promedio, 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Feriados</a:t>
            </a:r>
          </a:p>
          <a:p>
            <a:pPr marL="245108" indent="-228600">
              <a:spcBef>
                <a:spcPts val="600"/>
              </a:spcBef>
              <a:buSzPct val="100000"/>
              <a:buChar char="•"/>
              <a:defRPr sz="2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Split</a:t>
            </a:r>
            <a:r>
              <a:rPr>
                <a:latin typeface="Avenir Book"/>
                <a:ea typeface="Avenir Book"/>
                <a:cs typeface="Avenir Book"/>
                <a:sym typeface="Avenir Book"/>
              </a:rPr>
              <a:t>:</a:t>
            </a:r>
            <a:r>
              <a:rPr spc="-18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310">
                <a:latin typeface="Avenir Book"/>
                <a:ea typeface="Avenir Book"/>
                <a:cs typeface="Avenir Book"/>
                <a:sym typeface="Avenir Book"/>
              </a:rPr>
              <a:t>85 %</a:t>
            </a:r>
            <a:r>
              <a:rPr spc="-4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35">
                <a:latin typeface="Avenir Book"/>
                <a:ea typeface="Avenir Book"/>
                <a:cs typeface="Avenir Book"/>
                <a:sym typeface="Avenir Book"/>
              </a:rPr>
              <a:t>Entrenamiento</a:t>
            </a:r>
            <a:r>
              <a:rPr spc="14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120">
                <a:latin typeface="Avenir Book"/>
                <a:ea typeface="Avenir Book"/>
                <a:cs typeface="Avenir Book"/>
                <a:sym typeface="Avenir Book"/>
              </a:rPr>
              <a:t>/</a:t>
            </a:r>
            <a:r>
              <a:rPr spc="-11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530">
                <a:latin typeface="Avenir Book"/>
                <a:ea typeface="Avenir Book"/>
                <a:cs typeface="Avenir Book"/>
                <a:sym typeface="Avenir Book"/>
              </a:rPr>
              <a:t>15 %</a:t>
            </a:r>
            <a:r>
              <a:rPr spc="2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80">
                <a:latin typeface="Avenir Book"/>
                <a:ea typeface="Avenir Book"/>
                <a:cs typeface="Avenir Book"/>
                <a:sym typeface="Avenir Book"/>
              </a:rPr>
              <a:t>Prueba</a:t>
            </a:r>
            <a:r>
              <a:rPr spc="2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75">
                <a:latin typeface="Avenir Book"/>
                <a:ea typeface="Avenir Book"/>
                <a:cs typeface="Avenir Book"/>
                <a:sym typeface="Avenir Book"/>
              </a:rPr>
              <a:t>(40</a:t>
            </a:r>
            <a:r>
              <a:rPr spc="-85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spc="-10">
                <a:latin typeface="Avenir Book"/>
                <a:ea typeface="Avenir Book"/>
                <a:cs typeface="Avenir Book"/>
                <a:sym typeface="Avenir Book"/>
              </a:rPr>
              <a:t>semanas)</a:t>
            </a:r>
          </a:p>
        </p:txBody>
      </p:sp>
      <p:pic>
        <p:nvPicPr>
          <p:cNvPr id="77" name="Screenshot 2026-06-15 at 2.20.27 PM.png" descr="Screenshot 2026-06-15 at 2.20.2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70062" y="2813442"/>
            <a:ext cx="10872391" cy="56761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8"/>
          <p:cNvSpPr/>
          <p:nvPr/>
        </p:nvSpPr>
        <p:spPr>
          <a:xfrm>
            <a:off x="15705" y="769608"/>
            <a:ext cx="20080542" cy="6361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" name="object 9"/>
          <p:cNvSpPr txBox="1"/>
          <p:nvPr>
            <p:ph type="title"/>
          </p:nvPr>
        </p:nvSpPr>
        <p:spPr>
          <a:xfrm>
            <a:off x="912418" y="535056"/>
            <a:ext cx="10010769" cy="1026798"/>
          </a:xfrm>
          <a:prstGeom prst="rect">
            <a:avLst/>
          </a:prstGeom>
        </p:spPr>
        <p:txBody>
          <a:bodyPr/>
          <a:lstStyle/>
          <a:p>
            <a:pPr indent="12265" defTabSz="841247">
              <a:defRPr spc="-200" sz="58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Detección</a:t>
            </a:r>
            <a:r>
              <a:rPr spc="0"/>
              <a:t> de</a:t>
            </a:r>
            <a:r>
              <a:rPr spc="-300"/>
              <a:t> </a:t>
            </a:r>
            <a:r>
              <a:rPr>
                <a:solidFill>
                  <a:srgbClr val="D783FF"/>
                </a:solidFill>
              </a:rPr>
              <a:t>Anomalías</a:t>
            </a:r>
          </a:p>
        </p:txBody>
      </p:sp>
      <p:sp>
        <p:nvSpPr>
          <p:cNvPr id="81" name="object 10"/>
          <p:cNvSpPr txBox="1"/>
          <p:nvPr/>
        </p:nvSpPr>
        <p:spPr>
          <a:xfrm>
            <a:off x="11694237" y="2750989"/>
            <a:ext cx="8143879" cy="461274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3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spcBef>
                <a:spcPts val="2100"/>
              </a:spcBef>
              <a:defRPr sz="2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defRPr spc="80" sz="23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Método</a:t>
            </a:r>
            <a:r>
              <a:rPr spc="-55"/>
              <a:t> </a:t>
            </a:r>
            <a:r>
              <a:rPr spc="60"/>
              <a:t>del</a:t>
            </a:r>
            <a:r>
              <a:rPr spc="204"/>
              <a:t> </a:t>
            </a:r>
            <a:r>
              <a:rPr spc="125"/>
              <a:t>Rango</a:t>
            </a:r>
            <a:r>
              <a:rPr spc="-65"/>
              <a:t> </a:t>
            </a:r>
            <a:r>
              <a:rPr spc="90"/>
              <a:t>Intercuartílico</a:t>
            </a:r>
            <a:r>
              <a:rPr spc="-245"/>
              <a:t> </a:t>
            </a:r>
            <a:r>
              <a:rPr spc="125"/>
              <a:t>(IQR)</a:t>
            </a:r>
          </a:p>
          <a:p>
            <a:pPr>
              <a:defRPr spc="125" sz="2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indent="1270">
              <a:defRPr spc="-114"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Se</a:t>
            </a:r>
            <a:r>
              <a:rPr spc="-85"/>
              <a:t> </a:t>
            </a:r>
            <a:r>
              <a:rPr spc="0"/>
              <a:t>identificaron</a:t>
            </a:r>
            <a:r>
              <a:rPr spc="140"/>
              <a:t> </a:t>
            </a:r>
            <a:r>
              <a:rPr spc="0"/>
              <a:t>8</a:t>
            </a:r>
            <a:r>
              <a:rPr spc="85"/>
              <a:t> </a:t>
            </a:r>
            <a:r>
              <a:rPr spc="0"/>
              <a:t>valores</a:t>
            </a:r>
            <a:r>
              <a:rPr spc="85"/>
              <a:t> </a:t>
            </a:r>
            <a:r>
              <a:rPr spc="0"/>
              <a:t>atípicos</a:t>
            </a:r>
            <a:r>
              <a:rPr spc="114"/>
              <a:t> </a:t>
            </a:r>
            <a:r>
              <a:rPr spc="-150"/>
              <a:t>(0.43%</a:t>
            </a:r>
            <a:r>
              <a:rPr spc="35"/>
              <a:t> </a:t>
            </a:r>
            <a:r>
              <a:rPr spc="50"/>
              <a:t>de</a:t>
            </a:r>
            <a:r>
              <a:rPr spc="-90"/>
              <a:t> </a:t>
            </a:r>
            <a:r>
              <a:rPr spc="0"/>
              <a:t>la</a:t>
            </a:r>
            <a:r>
              <a:rPr spc="-60"/>
              <a:t> </a:t>
            </a:r>
            <a:r>
              <a:rPr spc="-10"/>
              <a:t>muestra).</a:t>
            </a:r>
          </a:p>
          <a:p>
            <a:pPr>
              <a:spcBef>
                <a:spcPts val="300"/>
              </a:spcBef>
              <a:defRPr spc="-10"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614680" indent="-316229">
              <a:buClr>
                <a:srgbClr val="E2FFE9"/>
              </a:buClr>
              <a:buSzPct val="100000"/>
              <a:buChar char="•"/>
              <a:tabLst>
                <a:tab pos="609600" algn="l"/>
              </a:tabLst>
              <a:defRPr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Picos</a:t>
            </a:r>
            <a:r>
              <a:rPr spc="160"/>
              <a:t> </a:t>
            </a:r>
            <a:r>
              <a:t>extremos</a:t>
            </a:r>
            <a:r>
              <a:rPr spc="320"/>
              <a:t> </a:t>
            </a:r>
            <a:r>
              <a:rPr spc="85"/>
              <a:t>en</a:t>
            </a:r>
            <a:r>
              <a:rPr spc="-20"/>
              <a:t> </a:t>
            </a:r>
            <a:r>
              <a:rPr spc="125"/>
              <a:t>marzo</a:t>
            </a:r>
            <a:r>
              <a:rPr spc="160"/>
              <a:t> </a:t>
            </a:r>
            <a:r>
              <a:t>(olas</a:t>
            </a:r>
            <a:r>
              <a:rPr spc="165"/>
              <a:t> </a:t>
            </a:r>
            <a:r>
              <a:t>de</a:t>
            </a:r>
            <a:r>
              <a:rPr spc="300"/>
              <a:t> </a:t>
            </a:r>
            <a:r>
              <a:rPr spc="-10"/>
              <a:t>calor).</a:t>
            </a:r>
          </a:p>
          <a:p>
            <a:pPr marL="614680" indent="-316229">
              <a:spcBef>
                <a:spcPts val="600"/>
              </a:spcBef>
              <a:buClr>
                <a:srgbClr val="D8FFDF"/>
              </a:buClr>
              <a:buSzPct val="100000"/>
              <a:buChar char="•"/>
              <a:tabLst>
                <a:tab pos="609600" algn="l"/>
              </a:tabLst>
              <a:defRPr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Picos</a:t>
            </a:r>
            <a:r>
              <a:rPr spc="145"/>
              <a:t> </a:t>
            </a:r>
            <a:r>
              <a:t>invernales</a:t>
            </a:r>
            <a:r>
              <a:rPr spc="204"/>
              <a:t> </a:t>
            </a:r>
            <a:r>
              <a:rPr spc="55"/>
              <a:t>por</a:t>
            </a:r>
            <a:r>
              <a:rPr spc="35"/>
              <a:t> </a:t>
            </a:r>
            <a:r>
              <a:rPr spc="110"/>
              <a:t>bajas</a:t>
            </a:r>
            <a:r>
              <a:rPr spc="250"/>
              <a:t> t</a:t>
            </a:r>
            <a:r>
              <a:rPr spc="-10"/>
              <a:t>emperaturas.</a:t>
            </a:r>
          </a:p>
          <a:p>
            <a:pPr marL="614680" marR="13970" indent="-316229">
              <a:lnSpc>
                <a:spcPct val="121200"/>
              </a:lnSpc>
              <a:buClr>
                <a:srgbClr val="E6FFEB"/>
              </a:buClr>
              <a:buSzPct val="100000"/>
              <a:buChar char="•"/>
              <a:tabLst>
                <a:tab pos="609600" algn="l"/>
              </a:tabLst>
              <a:defRPr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La</a:t>
            </a:r>
            <a:r>
              <a:rPr spc="60"/>
              <a:t>  </a:t>
            </a:r>
            <a:r>
              <a:t>serie </a:t>
            </a:r>
            <a:r>
              <a:rPr spc="55"/>
              <a:t>presenta</a:t>
            </a:r>
            <a:r>
              <a:rPr spc="120"/>
              <a:t> </a:t>
            </a:r>
            <a:r>
              <a:t>"colas</a:t>
            </a:r>
            <a:r>
              <a:rPr spc="110"/>
              <a:t> </a:t>
            </a:r>
            <a:r>
              <a:t>pesadas",</a:t>
            </a:r>
            <a:r>
              <a:rPr spc="185"/>
              <a:t> </a:t>
            </a:r>
            <a:r>
              <a:rPr spc="50"/>
              <a:t>indicando</a:t>
            </a:r>
            <a:r>
              <a:rPr spc="114"/>
              <a:t> </a:t>
            </a:r>
            <a:r>
              <a:rPr spc="55"/>
              <a:t>riesgo</a:t>
            </a:r>
            <a:r>
              <a:rPr spc="20"/>
              <a:t> </a:t>
            </a:r>
            <a:r>
              <a:rPr spc="45"/>
              <a:t>de 	</a:t>
            </a:r>
            <a:r>
              <a:t>eventos</a:t>
            </a:r>
            <a:r>
              <a:rPr spc="185"/>
              <a:t> </a:t>
            </a:r>
            <a:r>
              <a:rPr spc="-10"/>
              <a:t>extremos.</a:t>
            </a:r>
          </a:p>
        </p:txBody>
      </p:sp>
      <p:pic>
        <p:nvPicPr>
          <p:cNvPr id="82" name="Screenshot 2026-06-15 at 2.20.05 PM.png" descr="Screenshot 2026-06-15 at 2.20.0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9240" y="2606585"/>
            <a:ext cx="10697124" cy="7755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2"/>
          <p:cNvSpPr/>
          <p:nvPr/>
        </p:nvSpPr>
        <p:spPr>
          <a:xfrm>
            <a:off x="15705" y="769610"/>
            <a:ext cx="20080542" cy="82458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" name="object 3"/>
          <p:cNvSpPr txBox="1"/>
          <p:nvPr>
            <p:ph type="title"/>
          </p:nvPr>
        </p:nvSpPr>
        <p:spPr>
          <a:xfrm>
            <a:off x="912418" y="535056"/>
            <a:ext cx="10010769" cy="1026798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pc="-300" sz="59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Descomposición</a:t>
            </a:r>
            <a:r>
              <a:rPr spc="-500"/>
              <a:t> </a:t>
            </a:r>
            <a:r>
              <a:rPr>
                <a:solidFill>
                  <a:srgbClr val="D783FF"/>
                </a:solidFill>
              </a:rPr>
              <a:t>Estacional</a:t>
            </a:r>
          </a:p>
        </p:txBody>
      </p:sp>
      <p:sp>
        <p:nvSpPr>
          <p:cNvPr id="86" name="object 5"/>
          <p:cNvSpPr txBox="1"/>
          <p:nvPr/>
        </p:nvSpPr>
        <p:spPr>
          <a:xfrm>
            <a:off x="1316327" y="2018775"/>
            <a:ext cx="175641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10" sz="2800">
                <a:solidFill>
                  <a:srgbClr val="D783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pPr/>
            <a:r>
              <a:t>Tendencia</a:t>
            </a:r>
          </a:p>
        </p:txBody>
      </p:sp>
      <p:sp>
        <p:nvSpPr>
          <p:cNvPr id="87" name="object 6"/>
          <p:cNvSpPr txBox="1"/>
          <p:nvPr/>
        </p:nvSpPr>
        <p:spPr>
          <a:xfrm>
            <a:off x="1298655" y="2711298"/>
            <a:ext cx="4751711" cy="1476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062" algn="just">
              <a:lnSpc>
                <a:spcPct val="126200"/>
              </a:lnSpc>
              <a:spcBef>
                <a:spcPts val="100"/>
              </a:spcBef>
              <a:defRPr spc="80" sz="2400">
                <a:solidFill>
                  <a:srgbClr val="F2F2F2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Muestra</a:t>
            </a:r>
            <a:r>
              <a:rPr spc="65"/>
              <a:t> </a:t>
            </a:r>
            <a:r>
              <a:rPr spc="0">
                <a:solidFill>
                  <a:srgbClr val="F6F6F6"/>
                </a:solidFill>
              </a:rPr>
              <a:t>un</a:t>
            </a:r>
            <a:r>
              <a:rPr spc="25">
                <a:solidFill>
                  <a:srgbClr val="F6F6F6"/>
                </a:solidFill>
              </a:rPr>
              <a:t> </a:t>
            </a:r>
            <a:r>
              <a:rPr spc="60">
                <a:solidFill>
                  <a:srgbClr val="F7F7F7"/>
                </a:solidFill>
              </a:rPr>
              <a:t>crecimiento</a:t>
            </a:r>
            <a:r>
              <a:rPr spc="265">
                <a:solidFill>
                  <a:srgbClr val="F7F7F7"/>
                </a:solidFill>
              </a:rPr>
              <a:t> </a:t>
            </a:r>
            <a:r>
              <a:rPr spc="45">
                <a:solidFill>
                  <a:srgbClr val="F4F4F4"/>
                </a:solidFill>
              </a:rPr>
              <a:t>sostenido </a:t>
            </a:r>
            <a:r>
              <a:rPr spc="70">
                <a:solidFill>
                  <a:srgbClr val="F0F0F0"/>
                </a:solidFill>
              </a:rPr>
              <a:t>de</a:t>
            </a:r>
            <a:r>
              <a:rPr spc="275">
                <a:solidFill>
                  <a:srgbClr val="F0F0F0"/>
                </a:solidFill>
              </a:rPr>
              <a:t> </a:t>
            </a:r>
            <a:r>
              <a:rPr spc="50">
                <a:solidFill>
                  <a:srgbClr val="EDEDED"/>
                </a:solidFill>
              </a:rPr>
              <a:t>la</a:t>
            </a:r>
            <a:r>
              <a:rPr spc="233">
                <a:solidFill>
                  <a:srgbClr val="EDEDED"/>
                </a:solidFill>
              </a:rPr>
              <a:t> </a:t>
            </a:r>
            <a:r>
              <a:rPr spc="200">
                <a:solidFill>
                  <a:srgbClr val="FFFFFF"/>
                </a:solidFill>
              </a:rPr>
              <a:t>demanda</a:t>
            </a:r>
            <a:r>
              <a:rPr spc="104">
                <a:solidFill>
                  <a:srgbClr val="FFFFFF"/>
                </a:solidFill>
              </a:rPr>
              <a:t> </a:t>
            </a:r>
            <a:r>
              <a:rPr spc="114">
                <a:solidFill>
                  <a:srgbClr val="F6F6F6"/>
                </a:solidFill>
              </a:rPr>
              <a:t>bas</a:t>
            </a:r>
            <a:r>
              <a:rPr spc="-465">
                <a:solidFill>
                  <a:srgbClr val="F6F6F6"/>
                </a:solidFill>
              </a:rPr>
              <a:t>e</a:t>
            </a:r>
            <a:r>
              <a:rPr spc="120">
                <a:solidFill>
                  <a:srgbClr val="001100"/>
                </a:solidFill>
              </a:rPr>
              <a:t> </a:t>
            </a:r>
            <a:r>
              <a:rPr spc="120">
                <a:solidFill>
                  <a:srgbClr val="FFFFFF"/>
                </a:solidFill>
              </a:rPr>
              <a:t>a </a:t>
            </a:r>
            <a:r>
              <a:rPr spc="0">
                <a:solidFill>
                  <a:srgbClr val="EFEFEF"/>
                </a:solidFill>
              </a:rPr>
              <a:t>lo</a:t>
            </a:r>
            <a:r>
              <a:rPr spc="5">
                <a:solidFill>
                  <a:srgbClr val="EFEFEF"/>
                </a:solidFill>
              </a:rPr>
              <a:t> </a:t>
            </a:r>
            <a:r>
              <a:rPr spc="114">
                <a:solidFill>
                  <a:srgbClr val="EFEFEF"/>
                </a:solidFill>
              </a:rPr>
              <a:t>largo</a:t>
            </a:r>
            <a:r>
              <a:rPr spc="40">
                <a:solidFill>
                  <a:srgbClr val="EFEFEF"/>
                </a:solidFill>
              </a:rPr>
              <a:t> </a:t>
            </a:r>
            <a:r>
              <a:rPr spc="104">
                <a:solidFill>
                  <a:srgbClr val="E6E6E6"/>
                </a:solidFill>
              </a:rPr>
              <a:t>de </a:t>
            </a:r>
            <a:r>
              <a:rPr spc="0">
                <a:solidFill>
                  <a:srgbClr val="EFEFEF"/>
                </a:solidFill>
              </a:rPr>
              <a:t>los</a:t>
            </a:r>
            <a:r>
              <a:rPr spc="195">
                <a:solidFill>
                  <a:srgbClr val="EFEFEF"/>
                </a:solidFill>
              </a:rPr>
              <a:t> </a:t>
            </a:r>
            <a:r>
              <a:rPr spc="70">
                <a:solidFill>
                  <a:srgbClr val="EFEFEF"/>
                </a:solidFill>
              </a:rPr>
              <a:t>años.</a:t>
            </a:r>
          </a:p>
        </p:txBody>
      </p:sp>
      <p:sp>
        <p:nvSpPr>
          <p:cNvPr id="88" name="object 7"/>
          <p:cNvSpPr txBox="1"/>
          <p:nvPr/>
        </p:nvSpPr>
        <p:spPr>
          <a:xfrm>
            <a:off x="1659244" y="5204831"/>
            <a:ext cx="3438174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100" sz="2800">
                <a:solidFill>
                  <a:srgbClr val="D783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pPr/>
            <a:r>
              <a:t>Estacionalidad</a:t>
            </a:r>
          </a:p>
        </p:txBody>
      </p:sp>
      <p:sp>
        <p:nvSpPr>
          <p:cNvPr id="89" name="object 8"/>
          <p:cNvSpPr txBox="1"/>
          <p:nvPr/>
        </p:nvSpPr>
        <p:spPr>
          <a:xfrm>
            <a:off x="1655355" y="5862823"/>
            <a:ext cx="4546605" cy="1545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9050">
              <a:lnSpc>
                <a:spcPct val="114500"/>
              </a:lnSpc>
              <a:spcBef>
                <a:spcPts val="100"/>
              </a:spcBef>
              <a:defRPr sz="2700">
                <a:solidFill>
                  <a:srgbClr val="F6F6F6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Ciclos</a:t>
            </a:r>
            <a:r>
              <a:rPr spc="55"/>
              <a:t> </a:t>
            </a:r>
            <a:r>
              <a:rPr>
                <a:solidFill>
                  <a:srgbClr val="FFFFFF"/>
                </a:solidFill>
              </a:rPr>
              <a:t>marcados</a:t>
            </a:r>
            <a:r>
              <a:rPr spc="204">
                <a:solidFill>
                  <a:srgbClr val="FFFFFF"/>
                </a:solidFill>
              </a:rPr>
              <a:t> </a:t>
            </a:r>
            <a:r>
              <a:rPr spc="80">
                <a:solidFill>
                  <a:srgbClr val="E9E9E9"/>
                </a:solidFill>
              </a:rPr>
              <a:t>de</a:t>
            </a:r>
            <a:r>
              <a:rPr spc="-20">
                <a:solidFill>
                  <a:srgbClr val="E9E9E9"/>
                </a:solidFill>
              </a:rPr>
              <a:t> </a:t>
            </a:r>
            <a:r>
              <a:rPr>
                <a:solidFill>
                  <a:srgbClr val="E8E8E8"/>
                </a:solidFill>
              </a:rPr>
              <a:t>52</a:t>
            </a:r>
            <a:r>
              <a:rPr spc="135">
                <a:solidFill>
                  <a:srgbClr val="E8E8E8"/>
                </a:solidFill>
              </a:rPr>
              <a:t> </a:t>
            </a:r>
            <a:r>
              <a:rPr spc="-10">
                <a:solidFill>
                  <a:srgbClr val="FFFFFF"/>
                </a:solidFill>
              </a:rPr>
              <a:t>semanas </a:t>
            </a:r>
            <a:r>
              <a:t>con</a:t>
            </a:r>
            <a:r>
              <a:rPr spc="-145"/>
              <a:t> </a:t>
            </a:r>
            <a:r>
              <a:rPr>
                <a:solidFill>
                  <a:srgbClr val="FFFFFF"/>
                </a:solidFill>
              </a:rPr>
              <a:t>dos</a:t>
            </a:r>
            <a:r>
              <a:rPr spc="-70">
                <a:solidFill>
                  <a:srgbClr val="FFFFFF"/>
                </a:solidFill>
              </a:rPr>
              <a:t> </a:t>
            </a:r>
            <a:r>
              <a:rPr spc="-10">
                <a:solidFill>
                  <a:srgbClr val="FFFFFF"/>
                </a:solidFill>
              </a:rPr>
              <a:t>picos:</a:t>
            </a:r>
            <a:r>
              <a:rPr spc="60">
                <a:solidFill>
                  <a:srgbClr val="FFFFFF"/>
                </a:solidFill>
              </a:rPr>
              <a:t> </a:t>
            </a:r>
            <a:r>
              <a:rPr spc="-25">
                <a:solidFill>
                  <a:srgbClr val="FFFFFF"/>
                </a:solidFill>
              </a:rPr>
              <a:t>Verano</a:t>
            </a:r>
            <a:r>
              <a:rPr spc="-10"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E8E8E8"/>
                </a:solidFill>
              </a:rPr>
              <a:t>e</a:t>
            </a:r>
            <a:r>
              <a:rPr spc="10">
                <a:solidFill>
                  <a:srgbClr val="E8E8E8"/>
                </a:solidFill>
              </a:rPr>
              <a:t> </a:t>
            </a:r>
            <a:r>
              <a:rPr spc="-50">
                <a:solidFill>
                  <a:srgbClr val="FFFFFF"/>
                </a:solidFill>
              </a:rPr>
              <a:t>Invierno.</a:t>
            </a:r>
          </a:p>
        </p:txBody>
      </p:sp>
      <p:sp>
        <p:nvSpPr>
          <p:cNvPr id="90" name="object 9"/>
          <p:cNvSpPr txBox="1"/>
          <p:nvPr/>
        </p:nvSpPr>
        <p:spPr>
          <a:xfrm>
            <a:off x="1717173" y="8107298"/>
            <a:ext cx="139213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10" sz="2800">
                <a:solidFill>
                  <a:srgbClr val="D783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pPr/>
            <a:r>
              <a:t>Residuo</a:t>
            </a:r>
          </a:p>
        </p:txBody>
      </p:sp>
      <p:sp>
        <p:nvSpPr>
          <p:cNvPr id="91" name="object 10"/>
          <p:cNvSpPr txBox="1"/>
          <p:nvPr/>
        </p:nvSpPr>
        <p:spPr>
          <a:xfrm>
            <a:off x="1710133" y="8802458"/>
            <a:ext cx="4129978" cy="1478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061">
              <a:lnSpc>
                <a:spcPct val="121200"/>
              </a:lnSpc>
              <a:defRPr sz="2500">
                <a:solidFill>
                  <a:srgbClr val="DBDBDB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Ruido</a:t>
            </a:r>
            <a:r>
              <a:rPr spc="5"/>
              <a:t> </a:t>
            </a:r>
            <a:r>
              <a:rPr spc="75">
                <a:solidFill>
                  <a:srgbClr val="FFFFFF"/>
                </a:solidFill>
              </a:rPr>
              <a:t>blanco</a:t>
            </a:r>
            <a:r>
              <a:rPr spc="175"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EBEBEB"/>
                </a:solidFill>
              </a:rPr>
              <a:t>tras</a:t>
            </a:r>
            <a:r>
              <a:rPr spc="100">
                <a:solidFill>
                  <a:srgbClr val="EBEBEB"/>
                </a:solidFill>
              </a:rPr>
              <a:t> </a:t>
            </a:r>
            <a:r>
              <a:rPr spc="45">
                <a:solidFill>
                  <a:srgbClr val="E9E9E9"/>
                </a:solidFill>
              </a:rPr>
              <a:t>extraer</a:t>
            </a:r>
            <a:r>
              <a:rPr spc="95">
                <a:solidFill>
                  <a:srgbClr val="E9E9E9"/>
                </a:solidFill>
              </a:rPr>
              <a:t> </a:t>
            </a:r>
            <a:r>
              <a:rPr spc="-25">
                <a:solidFill>
                  <a:srgbClr val="E6E6E6"/>
                </a:solidFill>
              </a:rPr>
              <a:t>los </a:t>
            </a:r>
            <a:r>
              <a:rPr>
                <a:solidFill>
                  <a:srgbClr val="F6F6F6"/>
                </a:solidFill>
              </a:rPr>
              <a:t>componentes,</a:t>
            </a:r>
            <a:r>
              <a:rPr spc="85">
                <a:solidFill>
                  <a:srgbClr val="F6F6F6"/>
                </a:solidFill>
              </a:rPr>
              <a:t>  </a:t>
            </a:r>
            <a:r>
              <a:rPr>
                <a:solidFill>
                  <a:srgbClr val="EDEDED"/>
                </a:solidFill>
              </a:rPr>
              <a:t>validando</a:t>
            </a:r>
            <a:r>
              <a:rPr spc="320">
                <a:solidFill>
                  <a:srgbClr val="EDEDED"/>
                </a:solidFill>
              </a:rPr>
              <a:t> </a:t>
            </a:r>
            <a:r>
              <a:rPr spc="-25">
                <a:solidFill>
                  <a:srgbClr val="EDFFF4"/>
                </a:solidFill>
              </a:rPr>
              <a:t>la </a:t>
            </a:r>
            <a:r>
              <a:rPr>
                <a:solidFill>
                  <a:srgbClr val="F6F6F6"/>
                </a:solidFill>
              </a:rPr>
              <a:t>estructura</a:t>
            </a:r>
            <a:r>
              <a:rPr spc="254">
                <a:solidFill>
                  <a:srgbClr val="F6F6F6"/>
                </a:solidFill>
              </a:rPr>
              <a:t> </a:t>
            </a:r>
            <a:r>
              <a:rPr>
                <a:solidFill>
                  <a:srgbClr val="F7F7F7"/>
                </a:solidFill>
              </a:rPr>
              <a:t>del</a:t>
            </a:r>
            <a:r>
              <a:rPr spc="175">
                <a:solidFill>
                  <a:srgbClr val="F7F7F7"/>
                </a:solidFill>
              </a:rPr>
              <a:t> </a:t>
            </a:r>
            <a:r>
              <a:rPr spc="-10">
                <a:solidFill>
                  <a:srgbClr val="FFFFFF"/>
                </a:solidFill>
              </a:rPr>
              <a:t>modelo.</a:t>
            </a:r>
          </a:p>
        </p:txBody>
      </p:sp>
      <p:sp>
        <p:nvSpPr>
          <p:cNvPr id="92" name="Shape"/>
          <p:cNvSpPr/>
          <p:nvPr/>
        </p:nvSpPr>
        <p:spPr>
          <a:xfrm>
            <a:off x="912416" y="1625073"/>
            <a:ext cx="5524186" cy="2795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28" y="0"/>
                </a:moveTo>
                <a:lnTo>
                  <a:pt x="18672" y="0"/>
                </a:lnTo>
                <a:cubicBezTo>
                  <a:pt x="19102" y="0"/>
                  <a:pt x="19446" y="0"/>
                  <a:pt x="19725" y="30"/>
                </a:cubicBezTo>
                <a:cubicBezTo>
                  <a:pt x="20004" y="61"/>
                  <a:pt x="20219" y="121"/>
                  <a:pt x="20391" y="243"/>
                </a:cubicBezTo>
                <a:cubicBezTo>
                  <a:pt x="20638" y="395"/>
                  <a:pt x="20860" y="637"/>
                  <a:pt x="21042" y="944"/>
                </a:cubicBezTo>
                <a:cubicBezTo>
                  <a:pt x="21224" y="1252"/>
                  <a:pt x="21366" y="1627"/>
                  <a:pt x="21457" y="2046"/>
                </a:cubicBezTo>
                <a:cubicBezTo>
                  <a:pt x="21528" y="2337"/>
                  <a:pt x="21564" y="2700"/>
                  <a:pt x="21582" y="3172"/>
                </a:cubicBezTo>
                <a:cubicBezTo>
                  <a:pt x="21600" y="3645"/>
                  <a:pt x="21600" y="4226"/>
                  <a:pt x="21600" y="4953"/>
                </a:cubicBezTo>
                <a:lnTo>
                  <a:pt x="21600" y="16647"/>
                </a:lnTo>
                <a:cubicBezTo>
                  <a:pt x="21600" y="17374"/>
                  <a:pt x="21600" y="17955"/>
                  <a:pt x="21582" y="18428"/>
                </a:cubicBezTo>
                <a:cubicBezTo>
                  <a:pt x="21564" y="18900"/>
                  <a:pt x="21528" y="19263"/>
                  <a:pt x="21457" y="19554"/>
                </a:cubicBezTo>
                <a:cubicBezTo>
                  <a:pt x="21366" y="19973"/>
                  <a:pt x="21224" y="20348"/>
                  <a:pt x="21042" y="20656"/>
                </a:cubicBezTo>
                <a:cubicBezTo>
                  <a:pt x="20860" y="20963"/>
                  <a:pt x="20638" y="21205"/>
                  <a:pt x="20391" y="21357"/>
                </a:cubicBezTo>
                <a:cubicBezTo>
                  <a:pt x="20219" y="21479"/>
                  <a:pt x="20004" y="21539"/>
                  <a:pt x="19725" y="21570"/>
                </a:cubicBezTo>
                <a:cubicBezTo>
                  <a:pt x="19446" y="21600"/>
                  <a:pt x="19102" y="21600"/>
                  <a:pt x="18672" y="21600"/>
                </a:cubicBezTo>
                <a:lnTo>
                  <a:pt x="2928" y="21600"/>
                </a:lnTo>
                <a:cubicBezTo>
                  <a:pt x="2498" y="21600"/>
                  <a:pt x="2154" y="21600"/>
                  <a:pt x="1875" y="21570"/>
                </a:cubicBezTo>
                <a:cubicBezTo>
                  <a:pt x="1596" y="21539"/>
                  <a:pt x="1381" y="21479"/>
                  <a:pt x="1209" y="21357"/>
                </a:cubicBezTo>
                <a:cubicBezTo>
                  <a:pt x="962" y="21205"/>
                  <a:pt x="740" y="20963"/>
                  <a:pt x="558" y="20656"/>
                </a:cubicBezTo>
                <a:cubicBezTo>
                  <a:pt x="376" y="20348"/>
                  <a:pt x="234" y="19973"/>
                  <a:pt x="143" y="19554"/>
                </a:cubicBezTo>
                <a:cubicBezTo>
                  <a:pt x="72" y="19263"/>
                  <a:pt x="36" y="18900"/>
                  <a:pt x="18" y="18428"/>
                </a:cubicBezTo>
                <a:cubicBezTo>
                  <a:pt x="0" y="17955"/>
                  <a:pt x="0" y="17374"/>
                  <a:pt x="0" y="16647"/>
                </a:cubicBezTo>
                <a:lnTo>
                  <a:pt x="0" y="4953"/>
                </a:lnTo>
                <a:cubicBezTo>
                  <a:pt x="0" y="4226"/>
                  <a:pt x="0" y="3645"/>
                  <a:pt x="18" y="3172"/>
                </a:cubicBezTo>
                <a:cubicBezTo>
                  <a:pt x="36" y="2700"/>
                  <a:pt x="72" y="2337"/>
                  <a:pt x="143" y="2046"/>
                </a:cubicBezTo>
                <a:cubicBezTo>
                  <a:pt x="234" y="1627"/>
                  <a:pt x="376" y="1252"/>
                  <a:pt x="558" y="944"/>
                </a:cubicBezTo>
                <a:cubicBezTo>
                  <a:pt x="740" y="637"/>
                  <a:pt x="962" y="395"/>
                  <a:pt x="1209" y="243"/>
                </a:cubicBezTo>
                <a:cubicBezTo>
                  <a:pt x="1381" y="121"/>
                  <a:pt x="1596" y="61"/>
                  <a:pt x="1875" y="30"/>
                </a:cubicBezTo>
                <a:cubicBezTo>
                  <a:pt x="2154" y="0"/>
                  <a:pt x="2498" y="0"/>
                  <a:pt x="2928" y="0"/>
                </a:cubicBezTo>
                <a:close/>
              </a:path>
            </a:pathLst>
          </a:custGeom>
          <a:ln w="25400">
            <a:solidFill>
              <a:srgbClr val="FF40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" name="Shape"/>
          <p:cNvSpPr/>
          <p:nvPr/>
        </p:nvSpPr>
        <p:spPr>
          <a:xfrm>
            <a:off x="912416" y="4817243"/>
            <a:ext cx="5524186" cy="2661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28" y="0"/>
                </a:moveTo>
                <a:lnTo>
                  <a:pt x="18672" y="0"/>
                </a:lnTo>
                <a:cubicBezTo>
                  <a:pt x="19102" y="0"/>
                  <a:pt x="19446" y="0"/>
                  <a:pt x="19725" y="30"/>
                </a:cubicBezTo>
                <a:cubicBezTo>
                  <a:pt x="20004" y="61"/>
                  <a:pt x="20219" y="121"/>
                  <a:pt x="20391" y="243"/>
                </a:cubicBezTo>
                <a:cubicBezTo>
                  <a:pt x="20638" y="395"/>
                  <a:pt x="20860" y="637"/>
                  <a:pt x="21042" y="944"/>
                </a:cubicBezTo>
                <a:cubicBezTo>
                  <a:pt x="21224" y="1252"/>
                  <a:pt x="21366" y="1627"/>
                  <a:pt x="21457" y="2046"/>
                </a:cubicBezTo>
                <a:cubicBezTo>
                  <a:pt x="21528" y="2337"/>
                  <a:pt x="21564" y="2700"/>
                  <a:pt x="21582" y="3172"/>
                </a:cubicBezTo>
                <a:cubicBezTo>
                  <a:pt x="21600" y="3645"/>
                  <a:pt x="21600" y="4226"/>
                  <a:pt x="21600" y="4953"/>
                </a:cubicBezTo>
                <a:lnTo>
                  <a:pt x="21600" y="16647"/>
                </a:lnTo>
                <a:cubicBezTo>
                  <a:pt x="21600" y="17374"/>
                  <a:pt x="21600" y="17955"/>
                  <a:pt x="21582" y="18428"/>
                </a:cubicBezTo>
                <a:cubicBezTo>
                  <a:pt x="21564" y="18900"/>
                  <a:pt x="21528" y="19263"/>
                  <a:pt x="21457" y="19554"/>
                </a:cubicBezTo>
                <a:cubicBezTo>
                  <a:pt x="21366" y="19973"/>
                  <a:pt x="21224" y="20348"/>
                  <a:pt x="21042" y="20656"/>
                </a:cubicBezTo>
                <a:cubicBezTo>
                  <a:pt x="20860" y="20963"/>
                  <a:pt x="20638" y="21205"/>
                  <a:pt x="20391" y="21357"/>
                </a:cubicBezTo>
                <a:cubicBezTo>
                  <a:pt x="20219" y="21479"/>
                  <a:pt x="20004" y="21539"/>
                  <a:pt x="19725" y="21570"/>
                </a:cubicBezTo>
                <a:cubicBezTo>
                  <a:pt x="19446" y="21600"/>
                  <a:pt x="19102" y="21600"/>
                  <a:pt x="18672" y="21600"/>
                </a:cubicBezTo>
                <a:lnTo>
                  <a:pt x="2928" y="21600"/>
                </a:lnTo>
                <a:cubicBezTo>
                  <a:pt x="2498" y="21600"/>
                  <a:pt x="2154" y="21600"/>
                  <a:pt x="1875" y="21570"/>
                </a:cubicBezTo>
                <a:cubicBezTo>
                  <a:pt x="1596" y="21539"/>
                  <a:pt x="1381" y="21479"/>
                  <a:pt x="1209" y="21357"/>
                </a:cubicBezTo>
                <a:cubicBezTo>
                  <a:pt x="962" y="21205"/>
                  <a:pt x="740" y="20963"/>
                  <a:pt x="558" y="20656"/>
                </a:cubicBezTo>
                <a:cubicBezTo>
                  <a:pt x="376" y="20348"/>
                  <a:pt x="234" y="19973"/>
                  <a:pt x="143" y="19554"/>
                </a:cubicBezTo>
                <a:cubicBezTo>
                  <a:pt x="72" y="19263"/>
                  <a:pt x="36" y="18900"/>
                  <a:pt x="18" y="18428"/>
                </a:cubicBezTo>
                <a:cubicBezTo>
                  <a:pt x="0" y="17955"/>
                  <a:pt x="0" y="17374"/>
                  <a:pt x="0" y="16647"/>
                </a:cubicBezTo>
                <a:lnTo>
                  <a:pt x="0" y="4953"/>
                </a:lnTo>
                <a:cubicBezTo>
                  <a:pt x="0" y="4226"/>
                  <a:pt x="0" y="3645"/>
                  <a:pt x="18" y="3172"/>
                </a:cubicBezTo>
                <a:cubicBezTo>
                  <a:pt x="36" y="2700"/>
                  <a:pt x="72" y="2337"/>
                  <a:pt x="143" y="2046"/>
                </a:cubicBezTo>
                <a:cubicBezTo>
                  <a:pt x="234" y="1627"/>
                  <a:pt x="376" y="1252"/>
                  <a:pt x="558" y="944"/>
                </a:cubicBezTo>
                <a:cubicBezTo>
                  <a:pt x="740" y="637"/>
                  <a:pt x="962" y="395"/>
                  <a:pt x="1209" y="243"/>
                </a:cubicBezTo>
                <a:cubicBezTo>
                  <a:pt x="1381" y="121"/>
                  <a:pt x="1596" y="61"/>
                  <a:pt x="1875" y="30"/>
                </a:cubicBezTo>
                <a:cubicBezTo>
                  <a:pt x="2154" y="0"/>
                  <a:pt x="2498" y="0"/>
                  <a:pt x="2928" y="0"/>
                </a:cubicBezTo>
                <a:close/>
              </a:path>
            </a:pathLst>
          </a:custGeom>
          <a:ln w="25400">
            <a:solidFill>
              <a:srgbClr val="FF40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" name="Shape"/>
          <p:cNvSpPr/>
          <p:nvPr/>
        </p:nvSpPr>
        <p:spPr>
          <a:xfrm>
            <a:off x="918767" y="7875871"/>
            <a:ext cx="5511486" cy="2819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28" y="0"/>
                </a:moveTo>
                <a:lnTo>
                  <a:pt x="18672" y="0"/>
                </a:lnTo>
                <a:cubicBezTo>
                  <a:pt x="19102" y="0"/>
                  <a:pt x="19446" y="0"/>
                  <a:pt x="19725" y="30"/>
                </a:cubicBezTo>
                <a:cubicBezTo>
                  <a:pt x="20004" y="61"/>
                  <a:pt x="20219" y="121"/>
                  <a:pt x="20391" y="243"/>
                </a:cubicBezTo>
                <a:cubicBezTo>
                  <a:pt x="20638" y="395"/>
                  <a:pt x="20860" y="637"/>
                  <a:pt x="21042" y="944"/>
                </a:cubicBezTo>
                <a:cubicBezTo>
                  <a:pt x="21224" y="1252"/>
                  <a:pt x="21366" y="1627"/>
                  <a:pt x="21457" y="2046"/>
                </a:cubicBezTo>
                <a:cubicBezTo>
                  <a:pt x="21528" y="2337"/>
                  <a:pt x="21564" y="2700"/>
                  <a:pt x="21582" y="3172"/>
                </a:cubicBezTo>
                <a:cubicBezTo>
                  <a:pt x="21600" y="3645"/>
                  <a:pt x="21600" y="4226"/>
                  <a:pt x="21600" y="4953"/>
                </a:cubicBezTo>
                <a:lnTo>
                  <a:pt x="21600" y="16647"/>
                </a:lnTo>
                <a:cubicBezTo>
                  <a:pt x="21600" y="17374"/>
                  <a:pt x="21600" y="17955"/>
                  <a:pt x="21582" y="18428"/>
                </a:cubicBezTo>
                <a:cubicBezTo>
                  <a:pt x="21564" y="18900"/>
                  <a:pt x="21528" y="19263"/>
                  <a:pt x="21457" y="19554"/>
                </a:cubicBezTo>
                <a:cubicBezTo>
                  <a:pt x="21366" y="19973"/>
                  <a:pt x="21224" y="20348"/>
                  <a:pt x="21042" y="20656"/>
                </a:cubicBezTo>
                <a:cubicBezTo>
                  <a:pt x="20860" y="20963"/>
                  <a:pt x="20638" y="21205"/>
                  <a:pt x="20391" y="21357"/>
                </a:cubicBezTo>
                <a:cubicBezTo>
                  <a:pt x="20219" y="21479"/>
                  <a:pt x="20004" y="21539"/>
                  <a:pt x="19725" y="21570"/>
                </a:cubicBezTo>
                <a:cubicBezTo>
                  <a:pt x="19446" y="21600"/>
                  <a:pt x="19102" y="21600"/>
                  <a:pt x="18672" y="21600"/>
                </a:cubicBezTo>
                <a:lnTo>
                  <a:pt x="2928" y="21600"/>
                </a:lnTo>
                <a:cubicBezTo>
                  <a:pt x="2498" y="21600"/>
                  <a:pt x="2154" y="21600"/>
                  <a:pt x="1875" y="21570"/>
                </a:cubicBezTo>
                <a:cubicBezTo>
                  <a:pt x="1596" y="21539"/>
                  <a:pt x="1381" y="21479"/>
                  <a:pt x="1209" y="21357"/>
                </a:cubicBezTo>
                <a:cubicBezTo>
                  <a:pt x="962" y="21205"/>
                  <a:pt x="740" y="20963"/>
                  <a:pt x="558" y="20656"/>
                </a:cubicBezTo>
                <a:cubicBezTo>
                  <a:pt x="376" y="20348"/>
                  <a:pt x="234" y="19973"/>
                  <a:pt x="143" y="19554"/>
                </a:cubicBezTo>
                <a:cubicBezTo>
                  <a:pt x="72" y="19263"/>
                  <a:pt x="36" y="18900"/>
                  <a:pt x="18" y="18428"/>
                </a:cubicBezTo>
                <a:cubicBezTo>
                  <a:pt x="0" y="17955"/>
                  <a:pt x="0" y="17374"/>
                  <a:pt x="0" y="16647"/>
                </a:cubicBezTo>
                <a:lnTo>
                  <a:pt x="0" y="4953"/>
                </a:lnTo>
                <a:cubicBezTo>
                  <a:pt x="0" y="4226"/>
                  <a:pt x="0" y="3645"/>
                  <a:pt x="18" y="3172"/>
                </a:cubicBezTo>
                <a:cubicBezTo>
                  <a:pt x="36" y="2700"/>
                  <a:pt x="72" y="2337"/>
                  <a:pt x="143" y="2046"/>
                </a:cubicBezTo>
                <a:cubicBezTo>
                  <a:pt x="234" y="1627"/>
                  <a:pt x="376" y="1252"/>
                  <a:pt x="558" y="944"/>
                </a:cubicBezTo>
                <a:cubicBezTo>
                  <a:pt x="740" y="637"/>
                  <a:pt x="962" y="395"/>
                  <a:pt x="1209" y="243"/>
                </a:cubicBezTo>
                <a:cubicBezTo>
                  <a:pt x="1381" y="121"/>
                  <a:pt x="1596" y="61"/>
                  <a:pt x="1875" y="30"/>
                </a:cubicBezTo>
                <a:cubicBezTo>
                  <a:pt x="2154" y="0"/>
                  <a:pt x="2498" y="0"/>
                  <a:pt x="2928" y="0"/>
                </a:cubicBezTo>
                <a:close/>
              </a:path>
            </a:pathLst>
          </a:custGeom>
          <a:ln w="25400">
            <a:solidFill>
              <a:srgbClr val="FF40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95" name="Imagen 2" descr="Imagen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8654" y="1740311"/>
            <a:ext cx="12094776" cy="85707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8"/>
          <p:cNvSpPr/>
          <p:nvPr/>
        </p:nvSpPr>
        <p:spPr>
          <a:xfrm>
            <a:off x="15705" y="769610"/>
            <a:ext cx="20080542" cy="82458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" name="object 9"/>
          <p:cNvSpPr txBox="1"/>
          <p:nvPr>
            <p:ph type="title"/>
          </p:nvPr>
        </p:nvSpPr>
        <p:spPr>
          <a:xfrm>
            <a:off x="912418" y="535056"/>
            <a:ext cx="10010769" cy="1026798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pc="-100" sz="59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Demanda</a:t>
            </a:r>
            <a:r>
              <a:rPr spc="-400"/>
              <a:t> vs.</a:t>
            </a:r>
            <a:r>
              <a:rPr spc="-200"/>
              <a:t> </a:t>
            </a:r>
            <a:r>
              <a:rPr spc="-200">
                <a:solidFill>
                  <a:srgbClr val="D783FF"/>
                </a:solidFill>
              </a:rPr>
              <a:t>Temperatura</a:t>
            </a:r>
          </a:p>
        </p:txBody>
      </p:sp>
      <p:sp>
        <p:nvSpPr>
          <p:cNvPr id="99" name="object 10"/>
          <p:cNvSpPr txBox="1"/>
          <p:nvPr/>
        </p:nvSpPr>
        <p:spPr>
          <a:xfrm>
            <a:off x="942379" y="3376860"/>
            <a:ext cx="7861301" cy="48514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spcBef>
                <a:spcPts val="900"/>
              </a:spcBef>
              <a:defRPr sz="22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indent="1905">
              <a:defRPr spc="180" sz="2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Comportamiento</a:t>
            </a:r>
            <a:r>
              <a:rPr spc="-185"/>
              <a:t> </a:t>
            </a:r>
            <a:r>
              <a:rPr spc="215"/>
              <a:t>No</a:t>
            </a:r>
            <a:r>
              <a:rPr spc="-175"/>
              <a:t> </a:t>
            </a:r>
            <a:r>
              <a:rPr spc="155"/>
              <a:t>Lineal</a:t>
            </a:r>
          </a:p>
          <a:p>
            <a:pPr>
              <a:spcBef>
                <a:spcPts val="300"/>
              </a:spcBef>
              <a:defRPr spc="155" sz="22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defRPr spc="225" sz="2300">
                <a:solidFill>
                  <a:srgbClr val="EBEBEB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La</a:t>
            </a:r>
            <a:r>
              <a:rPr spc="200"/>
              <a:t> </a:t>
            </a:r>
            <a:r>
              <a:rPr spc="114">
                <a:solidFill>
                  <a:srgbClr val="F4F4F4"/>
                </a:solidFill>
              </a:rPr>
              <a:t>relación</a:t>
            </a:r>
            <a:r>
              <a:rPr spc="185">
                <a:solidFill>
                  <a:srgbClr val="F4F4F4"/>
                </a:solidFill>
              </a:rPr>
              <a:t> </a:t>
            </a:r>
            <a:r>
              <a:rPr spc="140">
                <a:solidFill>
                  <a:srgbClr val="E6E6E6"/>
                </a:solidFill>
              </a:rPr>
              <a:t>sigue</a:t>
            </a:r>
            <a:r>
              <a:rPr spc="85">
                <a:solidFill>
                  <a:srgbClr val="E6E6E6"/>
                </a:solidFill>
              </a:rPr>
              <a:t> </a:t>
            </a:r>
            <a:r>
              <a:rPr spc="174">
                <a:solidFill>
                  <a:srgbClr val="EFEFEF"/>
                </a:solidFill>
              </a:rPr>
              <a:t>una</a:t>
            </a:r>
            <a:r>
              <a:rPr spc="100">
                <a:solidFill>
                  <a:srgbClr val="EFEFEF"/>
                </a:solidFill>
              </a:rPr>
              <a:t> </a:t>
            </a:r>
            <a:r>
              <a:rPr spc="195">
                <a:solidFill>
                  <a:srgbClr val="EFEFEF"/>
                </a:solidFill>
              </a:rPr>
              <a:t>parábola</a:t>
            </a:r>
            <a:r>
              <a:rPr spc="85">
                <a:solidFill>
                  <a:srgbClr val="EFEFEF"/>
                </a:solidFill>
              </a:rPr>
              <a:t> </a:t>
            </a:r>
            <a:r>
              <a:rPr spc="240">
                <a:solidFill>
                  <a:srgbClr val="E8E8E8"/>
                </a:solidFill>
              </a:rPr>
              <a:t>o</a:t>
            </a:r>
            <a:r>
              <a:rPr spc="70">
                <a:solidFill>
                  <a:srgbClr val="E8E8E8"/>
                </a:solidFill>
              </a:rPr>
              <a:t> </a:t>
            </a:r>
            <a:r>
              <a:t>forma</a:t>
            </a:r>
            <a:r>
              <a:rPr spc="55"/>
              <a:t> </a:t>
            </a:r>
            <a:r>
              <a:rPr spc="220">
                <a:solidFill>
                  <a:srgbClr val="F2F2F2"/>
                </a:solidFill>
              </a:rPr>
              <a:t>de</a:t>
            </a:r>
            <a:r>
              <a:rPr spc="140">
                <a:solidFill>
                  <a:srgbClr val="F2F2F2"/>
                </a:solidFill>
              </a:rPr>
              <a:t> </a:t>
            </a:r>
            <a:r>
              <a:rPr spc="-20">
                <a:solidFill>
                  <a:srgbClr val="F2F2F2"/>
                </a:solidFill>
              </a:rPr>
              <a:t>"U".</a:t>
            </a:r>
          </a:p>
          <a:p>
            <a:pPr>
              <a:spcBef>
                <a:spcPts val="400"/>
              </a:spcBef>
              <a:defRPr spc="-20" sz="2300">
                <a:solidFill>
                  <a:srgbClr val="F2F2F2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616585" indent="-316230">
              <a:buClr>
                <a:srgbClr val="E6FFEB"/>
              </a:buClr>
              <a:buSzPct val="100000"/>
              <a:buChar char="•"/>
              <a:tabLst>
                <a:tab pos="609600" algn="l"/>
              </a:tabLst>
              <a:defRPr spc="65" sz="2400">
                <a:solidFill>
                  <a:srgbClr val="EDEDED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Frío:</a:t>
            </a:r>
            <a:r>
              <a:rPr spc="225"/>
              <a:t> </a:t>
            </a:r>
            <a:r>
              <a:rPr spc="60">
                <a:solidFill>
                  <a:srgbClr val="F4F4F4"/>
                </a:solidFill>
              </a:rPr>
              <a:t>Aumento</a:t>
            </a:r>
            <a:r>
              <a:rPr spc="130">
                <a:solidFill>
                  <a:srgbClr val="F4F4F4"/>
                </a:solidFill>
              </a:rPr>
              <a:t> </a:t>
            </a:r>
            <a:r>
              <a:rPr spc="110">
                <a:solidFill>
                  <a:srgbClr val="FFFFFF"/>
                </a:solidFill>
              </a:rPr>
              <a:t>por</a:t>
            </a:r>
            <a:r>
              <a:rPr spc="20">
                <a:solidFill>
                  <a:srgbClr val="FFFFFF"/>
                </a:solidFill>
              </a:rPr>
              <a:t> </a:t>
            </a:r>
            <a:r>
              <a:rPr spc="114">
                <a:solidFill>
                  <a:srgbClr val="FFFFFF"/>
                </a:solidFill>
              </a:rPr>
              <a:t>calefacción</a:t>
            </a:r>
            <a:r>
              <a:rPr spc="140">
                <a:solidFill>
                  <a:srgbClr val="FFFFFF"/>
                </a:solidFill>
              </a:rPr>
              <a:t> </a:t>
            </a:r>
            <a:r>
              <a:rPr spc="55">
                <a:solidFill>
                  <a:srgbClr val="FFFFFF"/>
                </a:solidFill>
              </a:rPr>
              <a:t>eléctrica.</a:t>
            </a:r>
          </a:p>
          <a:p>
            <a:pPr marL="626109" indent="-313054">
              <a:spcBef>
                <a:spcPts val="700"/>
              </a:spcBef>
              <a:buClr>
                <a:srgbClr val="DBFFDF"/>
              </a:buClr>
              <a:buSzPct val="100000"/>
              <a:buChar char="•"/>
              <a:tabLst>
                <a:tab pos="622300" algn="l"/>
              </a:tabLst>
              <a:defRPr sz="2400">
                <a:solidFill>
                  <a:srgbClr val="EDEDED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Confort:</a:t>
            </a:r>
            <a:r>
              <a:rPr spc="160"/>
              <a:t> </a:t>
            </a:r>
            <a:r>
              <a:rPr>
                <a:solidFill>
                  <a:srgbClr val="FFFFFF"/>
                </a:solidFill>
              </a:rPr>
              <a:t>Zona</a:t>
            </a:r>
            <a:r>
              <a:rPr spc="120">
                <a:solidFill>
                  <a:srgbClr val="FFFFFF"/>
                </a:solidFill>
              </a:rPr>
              <a:t> </a:t>
            </a:r>
            <a:r>
              <a:rPr spc="-50">
                <a:solidFill>
                  <a:srgbClr val="FFFFFF"/>
                </a:solidFill>
              </a:rPr>
              <a:t>valle</a:t>
            </a:r>
            <a:r>
              <a:rPr spc="-30"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6F6F6"/>
                </a:solidFill>
              </a:rPr>
              <a:t>enfre</a:t>
            </a:r>
            <a:r>
              <a:rPr spc="-130">
                <a:solidFill>
                  <a:srgbClr val="F6F6F6"/>
                </a:solidFill>
              </a:rPr>
              <a:t> </a:t>
            </a:r>
            <a:r>
              <a:rPr spc="-254">
                <a:solidFill>
                  <a:srgbClr val="F0F0F0"/>
                </a:solidFill>
              </a:rPr>
              <a:t>15°C</a:t>
            </a:r>
            <a:r>
              <a:rPr spc="190">
                <a:solidFill>
                  <a:srgbClr val="F0F0F0"/>
                </a:solidFill>
              </a:rPr>
              <a:t> </a:t>
            </a:r>
            <a:r>
              <a:rPr>
                <a:solidFill>
                  <a:srgbClr val="F4F4F4"/>
                </a:solidFill>
              </a:rPr>
              <a:t>y</a:t>
            </a:r>
            <a:r>
              <a:rPr spc="55">
                <a:solidFill>
                  <a:srgbClr val="F4F4F4"/>
                </a:solidFill>
              </a:rPr>
              <a:t> </a:t>
            </a:r>
            <a:r>
              <a:rPr spc="-20">
                <a:solidFill>
                  <a:srgbClr val="F2F2F2"/>
                </a:solidFill>
              </a:rPr>
              <a:t>22°C</a:t>
            </a:r>
          </a:p>
          <a:p>
            <a:pPr marL="626109" indent="-313054">
              <a:spcBef>
                <a:spcPts val="700"/>
              </a:spcBef>
              <a:buClr>
                <a:srgbClr val="E2FFE9"/>
              </a:buClr>
              <a:buSzPct val="100000"/>
              <a:buChar char="•"/>
              <a:tabLst>
                <a:tab pos="622300" algn="l"/>
              </a:tabLst>
              <a:defRPr sz="2400">
                <a:solidFill>
                  <a:srgbClr val="E8FDF4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Color:</a:t>
            </a:r>
            <a:r>
              <a:rPr spc="-80"/>
              <a:t> </a:t>
            </a:r>
            <a:r>
              <a:rPr>
                <a:solidFill>
                  <a:srgbClr val="FFFFFF"/>
                </a:solidFill>
              </a:rPr>
              <a:t>Crecimiento</a:t>
            </a:r>
            <a:r>
              <a:rPr spc="-35"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exponencial</a:t>
            </a:r>
            <a:r>
              <a:rPr spc="95"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EBEBEB"/>
                </a:solidFill>
              </a:rPr>
              <a:t>por</a:t>
            </a:r>
            <a:r>
              <a:rPr spc="-45">
                <a:solidFill>
                  <a:srgbClr val="EBEBEB"/>
                </a:solidFill>
              </a:rPr>
              <a:t> </a:t>
            </a:r>
            <a:r>
              <a:rPr spc="-10">
                <a:solidFill>
                  <a:srgbClr val="FFFFFF"/>
                </a:solidFill>
              </a:rPr>
              <a:t>refrigeración.</a:t>
            </a:r>
          </a:p>
          <a:p>
            <a:pPr>
              <a:spcBef>
                <a:spcPts val="100"/>
              </a:spcBef>
              <a:defRPr spc="-10"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indent="3810">
              <a:defRPr spc="-185" sz="2700">
                <a:solidFill>
                  <a:srgbClr val="F2F2F2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Inclusión</a:t>
            </a:r>
            <a:r>
              <a:rPr spc="110"/>
              <a:t> </a:t>
            </a:r>
            <a:r>
              <a:rPr spc="-65">
                <a:solidFill>
                  <a:srgbClr val="E8E8E8"/>
                </a:solidFill>
              </a:rPr>
              <a:t>de</a:t>
            </a:r>
            <a:r>
              <a:rPr spc="-95">
                <a:solidFill>
                  <a:srgbClr val="E8E8E8"/>
                </a:solidFill>
              </a:rPr>
              <a:t> </a:t>
            </a:r>
            <a:r>
              <a:rPr spc="-110"/>
              <a:t>variable</a:t>
            </a:r>
            <a:r>
              <a:rPr spc="-40"/>
              <a:t> </a:t>
            </a:r>
            <a:r>
              <a:rPr spc="-90">
                <a:solidFill>
                  <a:srgbClr val="EDEDED"/>
                </a:solidFill>
              </a:rPr>
              <a:t>cuadrática</a:t>
            </a:r>
            <a:r>
              <a:rPr spc="-5">
                <a:solidFill>
                  <a:srgbClr val="EDEDED"/>
                </a:solidFill>
              </a:rPr>
              <a:t> </a:t>
            </a:r>
            <a:r>
              <a:rPr spc="-165">
                <a:solidFill>
                  <a:srgbClr val="F6F6F6"/>
                </a:solidFill>
              </a:rPr>
              <a:t>(Temp°)</a:t>
            </a:r>
            <a:r>
              <a:rPr spc="-45">
                <a:solidFill>
                  <a:srgbClr val="F6F6F6"/>
                </a:solidFill>
              </a:rPr>
              <a:t> </a:t>
            </a:r>
            <a:r>
              <a:rPr spc="-120">
                <a:solidFill>
                  <a:srgbClr val="E8E8E8"/>
                </a:solidFill>
              </a:rPr>
              <a:t>mejora</a:t>
            </a:r>
            <a:r>
              <a:rPr spc="-125">
                <a:solidFill>
                  <a:srgbClr val="E8E8E8"/>
                </a:solidFill>
              </a:rPr>
              <a:t> </a:t>
            </a:r>
            <a:r>
              <a:rPr spc="-85">
                <a:solidFill>
                  <a:srgbClr val="FFFFFF"/>
                </a:solidFill>
              </a:rPr>
              <a:t>el</a:t>
            </a:r>
            <a:r>
              <a:rPr spc="-155">
                <a:solidFill>
                  <a:srgbClr val="727259"/>
                </a:solidFill>
              </a:rPr>
              <a:t> </a:t>
            </a:r>
            <a:r>
              <a:rPr spc="-65">
                <a:solidFill>
                  <a:srgbClr val="E9E9E9"/>
                </a:solidFill>
              </a:rPr>
              <a:t>ajuste</a:t>
            </a:r>
          </a:p>
        </p:txBody>
      </p:sp>
      <p:pic>
        <p:nvPicPr>
          <p:cNvPr id="100" name="Screenshot 2026-06-15 at 2.21.07 PM.png" descr="Screenshot 2026-06-15 at 2.21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74070" y="2645377"/>
            <a:ext cx="10569703" cy="6314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bject 2"/>
          <p:cNvSpPr/>
          <p:nvPr/>
        </p:nvSpPr>
        <p:spPr>
          <a:xfrm>
            <a:off x="15705" y="2340242"/>
            <a:ext cx="20080542" cy="6361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object 3"/>
          <p:cNvSpPr txBox="1"/>
          <p:nvPr>
            <p:ph type="title"/>
          </p:nvPr>
        </p:nvSpPr>
        <p:spPr>
          <a:xfrm>
            <a:off x="906721" y="2105690"/>
            <a:ext cx="8140066" cy="1026798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z="59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Evaluación</a:t>
            </a:r>
            <a:r>
              <a:rPr spc="200"/>
              <a:t> </a:t>
            </a:r>
            <a:r>
              <a:t>de</a:t>
            </a:r>
            <a:r>
              <a:rPr spc="300"/>
              <a:t> </a:t>
            </a:r>
            <a:r>
              <a:rPr spc="-100">
                <a:solidFill>
                  <a:srgbClr val="D783FF"/>
                </a:solidFill>
              </a:rPr>
              <a:t>Modelos</a:t>
            </a:r>
          </a:p>
        </p:txBody>
      </p:sp>
      <p:grpSp>
        <p:nvGrpSpPr>
          <p:cNvPr id="106" name="object 14"/>
          <p:cNvGrpSpPr/>
          <p:nvPr/>
        </p:nvGrpSpPr>
        <p:grpSpPr>
          <a:xfrm>
            <a:off x="15702" y="5497213"/>
            <a:ext cx="20080552" cy="494757"/>
            <a:chOff x="0" y="-1"/>
            <a:chExt cx="20080551" cy="494755"/>
          </a:xfrm>
        </p:grpSpPr>
        <p:pic>
          <p:nvPicPr>
            <p:cNvPr id="104" name="object 15" descr="object 1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266826" y="15706"/>
              <a:ext cx="5465808" cy="4711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5" name="object 16"/>
            <p:cNvSpPr/>
            <p:nvPr/>
          </p:nvSpPr>
          <p:spPr>
            <a:xfrm>
              <a:off x="-1" y="-2"/>
              <a:ext cx="20080552" cy="494757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7" name="object 19"/>
          <p:cNvSpPr/>
          <p:nvPr/>
        </p:nvSpPr>
        <p:spPr>
          <a:xfrm>
            <a:off x="15705" y="7020728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" name="object 20"/>
          <p:cNvSpPr/>
          <p:nvPr/>
        </p:nvSpPr>
        <p:spPr>
          <a:xfrm>
            <a:off x="15705" y="7491917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object 21"/>
          <p:cNvSpPr txBox="1"/>
          <p:nvPr/>
        </p:nvSpPr>
        <p:spPr>
          <a:xfrm>
            <a:off x="919500" y="6939943"/>
            <a:ext cx="1790763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900"/>
              </a:spcBef>
              <a:defRPr spc="-245"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El</a:t>
            </a:r>
            <a:r>
              <a:rPr spc="-25"/>
              <a:t> </a:t>
            </a:r>
            <a:r>
              <a:rPr spc="0"/>
              <a:t>modelo</a:t>
            </a:r>
            <a:r>
              <a:rPr spc="-180"/>
              <a:t> </a:t>
            </a:r>
            <a:r>
              <a:rPr spc="0"/>
              <a:t>de</a:t>
            </a:r>
            <a:r>
              <a:rPr spc="-180"/>
              <a:t> </a:t>
            </a:r>
            <a:r>
              <a:rPr spc="-65">
                <a:latin typeface="Avenir Heavy"/>
                <a:ea typeface="Avenir Heavy"/>
                <a:cs typeface="Avenir Heavy"/>
                <a:sym typeface="Avenir Heavy"/>
              </a:rPr>
              <a:t>Rondom</a:t>
            </a:r>
            <a:r>
              <a:rPr spc="-110">
                <a:latin typeface="Avenir Heavy"/>
                <a:ea typeface="Avenir Heavy"/>
                <a:cs typeface="Avenir Heavy"/>
                <a:sym typeface="Avenir Heavy"/>
              </a:rPr>
              <a:t> </a:t>
            </a:r>
            <a:r>
              <a:rPr spc="-104">
                <a:latin typeface="Avenir Heavy"/>
                <a:ea typeface="Avenir Heavy"/>
                <a:cs typeface="Avenir Heavy"/>
                <a:sym typeface="Avenir Heavy"/>
              </a:rPr>
              <a:t>Forest</a:t>
            </a:r>
            <a:r>
              <a:rPr spc="-75"/>
              <a:t> </a:t>
            </a:r>
            <a:r>
              <a:rPr spc="-40"/>
              <a:t>con</a:t>
            </a:r>
            <a:r>
              <a:rPr spc="-204"/>
              <a:t> </a:t>
            </a:r>
            <a:r>
              <a:rPr spc="-80"/>
              <a:t>Rezagos</a:t>
            </a:r>
            <a:r>
              <a:rPr spc="-100"/>
              <a:t> </a:t>
            </a:r>
            <a:r>
              <a:rPr spc="-104"/>
              <a:t>superó</a:t>
            </a:r>
            <a:r>
              <a:rPr spc="-70"/>
              <a:t> </a:t>
            </a:r>
            <a:r>
              <a:rPr spc="70"/>
              <a:t>a</a:t>
            </a:r>
            <a:r>
              <a:rPr spc="-180"/>
              <a:t> </a:t>
            </a:r>
            <a:r>
              <a:rPr spc="-110"/>
              <a:t>los</a:t>
            </a:r>
            <a:r>
              <a:rPr spc="-65"/>
              <a:t> </a:t>
            </a:r>
            <a:r>
              <a:rPr spc="-25"/>
              <a:t>modelos</a:t>
            </a:r>
            <a:r>
              <a:rPr spc="-135"/>
              <a:t> </a:t>
            </a:r>
            <a:r>
              <a:rPr spc="-35"/>
              <a:t>estadísticos</a:t>
            </a:r>
            <a:r>
              <a:rPr spc="100"/>
              <a:t> t</a:t>
            </a:r>
            <a:r>
              <a:rPr spc="-55"/>
              <a:t>radicionales,</a:t>
            </a:r>
            <a:r>
              <a:rPr spc="-160"/>
              <a:t> </a:t>
            </a:r>
            <a:r>
              <a:rPr spc="-10"/>
              <a:t>capturando</a:t>
            </a:r>
            <a:r>
              <a:rPr spc="20"/>
              <a:t> </a:t>
            </a:r>
            <a:r>
              <a:rPr spc="0"/>
              <a:t>mejor</a:t>
            </a:r>
            <a:r>
              <a:rPr spc="-75"/>
              <a:t> </a:t>
            </a:r>
            <a:r>
              <a:rPr spc="-45"/>
              <a:t>las</a:t>
            </a:r>
            <a:r>
              <a:rPr spc="-135"/>
              <a:t> </a:t>
            </a:r>
            <a:r>
              <a:rPr spc="-50"/>
              <a:t>interacciones</a:t>
            </a:r>
            <a:r>
              <a:rPr spc="125"/>
              <a:t> </a:t>
            </a:r>
            <a:r>
              <a:rPr spc="-25"/>
              <a:t>no</a:t>
            </a:r>
          </a:p>
          <a:p>
            <a:pPr indent="15240">
              <a:spcBef>
                <a:spcPts val="700"/>
              </a:spcBef>
              <a:defRPr spc="50"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lineales</a:t>
            </a:r>
            <a:r>
              <a:rPr spc="170"/>
              <a:t> </a:t>
            </a:r>
            <a:r>
              <a:rPr spc="70"/>
              <a:t>de</a:t>
            </a:r>
            <a:r>
              <a:rPr spc="233"/>
              <a:t> la t</a:t>
            </a:r>
            <a:r>
              <a:t>emperatura.</a:t>
            </a:r>
          </a:p>
        </p:txBody>
      </p:sp>
      <p:pic>
        <p:nvPicPr>
          <p:cNvPr id="110" name="Screenshot 2026-06-15 at 2.42.22 PM.png" descr="Screenshot 2026-06-15 at 2.42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5667" y="3688145"/>
            <a:ext cx="18275302" cy="2540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object 2"/>
          <p:cNvSpPr/>
          <p:nvPr/>
        </p:nvSpPr>
        <p:spPr>
          <a:xfrm>
            <a:off x="15705" y="2340242"/>
            <a:ext cx="20080542" cy="6361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object 3"/>
          <p:cNvSpPr txBox="1"/>
          <p:nvPr>
            <p:ph type="title"/>
          </p:nvPr>
        </p:nvSpPr>
        <p:spPr>
          <a:xfrm>
            <a:off x="975994" y="1179945"/>
            <a:ext cx="8140066" cy="1026798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z="59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Evaluación</a:t>
            </a:r>
            <a:r>
              <a:rPr spc="200"/>
              <a:t> </a:t>
            </a:r>
            <a:r>
              <a:t>de</a:t>
            </a:r>
            <a:r>
              <a:rPr spc="300"/>
              <a:t> </a:t>
            </a:r>
            <a:r>
              <a:rPr spc="-100">
                <a:solidFill>
                  <a:srgbClr val="D783FF"/>
                </a:solidFill>
              </a:rPr>
              <a:t>Modelos</a:t>
            </a:r>
          </a:p>
        </p:txBody>
      </p:sp>
      <p:grpSp>
        <p:nvGrpSpPr>
          <p:cNvPr id="116" name="object 14"/>
          <p:cNvGrpSpPr/>
          <p:nvPr/>
        </p:nvGrpSpPr>
        <p:grpSpPr>
          <a:xfrm>
            <a:off x="15702" y="5497213"/>
            <a:ext cx="20080552" cy="494757"/>
            <a:chOff x="0" y="-1"/>
            <a:chExt cx="20080551" cy="494755"/>
          </a:xfrm>
        </p:grpSpPr>
        <p:pic>
          <p:nvPicPr>
            <p:cNvPr id="114" name="object 15" descr="object 1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266826" y="15706"/>
              <a:ext cx="5465808" cy="4711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" name="object 16"/>
            <p:cNvSpPr/>
            <p:nvPr/>
          </p:nvSpPr>
          <p:spPr>
            <a:xfrm>
              <a:off x="-1" y="-2"/>
              <a:ext cx="20080552" cy="494757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17" name="object 19"/>
          <p:cNvSpPr/>
          <p:nvPr/>
        </p:nvSpPr>
        <p:spPr>
          <a:xfrm>
            <a:off x="15705" y="7020728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8" name="object 20"/>
          <p:cNvSpPr/>
          <p:nvPr/>
        </p:nvSpPr>
        <p:spPr>
          <a:xfrm>
            <a:off x="15705" y="7491917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9" name="Imagen 4" descr="Imagen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5993" y="2450582"/>
            <a:ext cx="17366238" cy="82174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bject 2"/>
          <p:cNvSpPr/>
          <p:nvPr/>
        </p:nvSpPr>
        <p:spPr>
          <a:xfrm>
            <a:off x="15705" y="2340242"/>
            <a:ext cx="20080542" cy="6361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bject 3"/>
          <p:cNvSpPr txBox="1"/>
          <p:nvPr>
            <p:ph type="title"/>
          </p:nvPr>
        </p:nvSpPr>
        <p:spPr>
          <a:xfrm>
            <a:off x="975994" y="1179945"/>
            <a:ext cx="8140066" cy="1026798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z="59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Evaluación</a:t>
            </a:r>
            <a:r>
              <a:rPr spc="200"/>
              <a:t> </a:t>
            </a:r>
            <a:r>
              <a:t>de</a:t>
            </a:r>
            <a:r>
              <a:rPr spc="300"/>
              <a:t> </a:t>
            </a:r>
            <a:r>
              <a:rPr spc="-100">
                <a:solidFill>
                  <a:srgbClr val="D783FF"/>
                </a:solidFill>
              </a:rPr>
              <a:t>Modelos</a:t>
            </a:r>
          </a:p>
        </p:txBody>
      </p:sp>
      <p:grpSp>
        <p:nvGrpSpPr>
          <p:cNvPr id="125" name="object 14"/>
          <p:cNvGrpSpPr/>
          <p:nvPr/>
        </p:nvGrpSpPr>
        <p:grpSpPr>
          <a:xfrm>
            <a:off x="15702" y="5497213"/>
            <a:ext cx="20080552" cy="494757"/>
            <a:chOff x="0" y="-1"/>
            <a:chExt cx="20080551" cy="494755"/>
          </a:xfrm>
        </p:grpSpPr>
        <p:pic>
          <p:nvPicPr>
            <p:cNvPr id="123" name="object 15" descr="object 1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266826" y="15706"/>
              <a:ext cx="5465808" cy="4711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4" name="object 16"/>
            <p:cNvSpPr/>
            <p:nvPr/>
          </p:nvSpPr>
          <p:spPr>
            <a:xfrm>
              <a:off x="-1" y="-2"/>
              <a:ext cx="20080552" cy="494757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6" name="object 19"/>
          <p:cNvSpPr/>
          <p:nvPr/>
        </p:nvSpPr>
        <p:spPr>
          <a:xfrm>
            <a:off x="15705" y="7020728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object 20"/>
          <p:cNvSpPr/>
          <p:nvPr/>
        </p:nvSpPr>
        <p:spPr>
          <a:xfrm>
            <a:off x="15705" y="7491917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28" name="Imagen 2" descr="Imagen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6864" y="2340241"/>
            <a:ext cx="18322589" cy="77828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2"/>
          <p:cNvSpPr/>
          <p:nvPr/>
        </p:nvSpPr>
        <p:spPr>
          <a:xfrm>
            <a:off x="15705" y="2340242"/>
            <a:ext cx="20080542" cy="6361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object 3"/>
          <p:cNvSpPr txBox="1"/>
          <p:nvPr>
            <p:ph type="title"/>
          </p:nvPr>
        </p:nvSpPr>
        <p:spPr>
          <a:xfrm>
            <a:off x="975994" y="1179945"/>
            <a:ext cx="8140066" cy="1026798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z="59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Evaluación</a:t>
            </a:r>
            <a:r>
              <a:rPr spc="200"/>
              <a:t> </a:t>
            </a:r>
            <a:r>
              <a:t>de</a:t>
            </a:r>
            <a:r>
              <a:rPr spc="300"/>
              <a:t> </a:t>
            </a:r>
            <a:r>
              <a:rPr spc="-100">
                <a:solidFill>
                  <a:srgbClr val="D783FF"/>
                </a:solidFill>
              </a:rPr>
              <a:t>Modelos</a:t>
            </a:r>
          </a:p>
        </p:txBody>
      </p:sp>
      <p:grpSp>
        <p:nvGrpSpPr>
          <p:cNvPr id="134" name="object 14"/>
          <p:cNvGrpSpPr/>
          <p:nvPr/>
        </p:nvGrpSpPr>
        <p:grpSpPr>
          <a:xfrm>
            <a:off x="15702" y="5497213"/>
            <a:ext cx="20080552" cy="494757"/>
            <a:chOff x="0" y="-1"/>
            <a:chExt cx="20080551" cy="494755"/>
          </a:xfrm>
        </p:grpSpPr>
        <p:pic>
          <p:nvPicPr>
            <p:cNvPr id="132" name="object 15" descr="object 1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266826" y="15706"/>
              <a:ext cx="5465808" cy="4711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3" name="object 16"/>
            <p:cNvSpPr/>
            <p:nvPr/>
          </p:nvSpPr>
          <p:spPr>
            <a:xfrm>
              <a:off x="-1" y="-2"/>
              <a:ext cx="20080552" cy="494757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35" name="object 19"/>
          <p:cNvSpPr/>
          <p:nvPr/>
        </p:nvSpPr>
        <p:spPr>
          <a:xfrm>
            <a:off x="15705" y="7020728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object 20"/>
          <p:cNvSpPr/>
          <p:nvPr/>
        </p:nvSpPr>
        <p:spPr>
          <a:xfrm>
            <a:off x="15705" y="7491917"/>
            <a:ext cx="20080542" cy="3376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37" name="Imagen 3" descr="Imagen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9419" y="2305853"/>
            <a:ext cx="18627271" cy="57990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bject 8"/>
          <p:cNvSpPr/>
          <p:nvPr/>
        </p:nvSpPr>
        <p:spPr>
          <a:xfrm>
            <a:off x="15705" y="769608"/>
            <a:ext cx="20080542" cy="6361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object 9"/>
          <p:cNvSpPr txBox="1"/>
          <p:nvPr>
            <p:ph type="title"/>
          </p:nvPr>
        </p:nvSpPr>
        <p:spPr>
          <a:xfrm>
            <a:off x="932197" y="551416"/>
            <a:ext cx="8392160" cy="1007115"/>
          </a:xfrm>
          <a:prstGeom prst="rect">
            <a:avLst/>
          </a:prstGeom>
        </p:spPr>
        <p:txBody>
          <a:bodyPr/>
          <a:lstStyle/>
          <a:p>
            <a:pPr indent="11557" defTabSz="832102">
              <a:defRPr spc="-200" sz="58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Simulación</a:t>
            </a:r>
            <a:r>
              <a:rPr spc="-300"/>
              <a:t> </a:t>
            </a:r>
            <a:r>
              <a:rPr spc="-100">
                <a:solidFill>
                  <a:srgbClr val="D783FF"/>
                </a:solidFill>
              </a:rPr>
              <a:t>Monte</a:t>
            </a:r>
            <a:r>
              <a:rPr spc="-500">
                <a:solidFill>
                  <a:srgbClr val="D783FF"/>
                </a:solidFill>
              </a:rPr>
              <a:t> </a:t>
            </a:r>
            <a:r>
              <a:rPr spc="-100">
                <a:solidFill>
                  <a:srgbClr val="D783FF"/>
                </a:solidFill>
              </a:rPr>
              <a:t>Carlo</a:t>
            </a:r>
          </a:p>
        </p:txBody>
      </p:sp>
      <p:sp>
        <p:nvSpPr>
          <p:cNvPr id="141" name="object 10"/>
          <p:cNvSpPr txBox="1"/>
          <p:nvPr/>
        </p:nvSpPr>
        <p:spPr>
          <a:xfrm>
            <a:off x="10930983" y="2561464"/>
            <a:ext cx="8458204" cy="483254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2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spcBef>
                <a:spcPts val="2000"/>
              </a:spcBef>
              <a:defRPr sz="22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indent="635">
              <a:defRPr sz="24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   Gestión</a:t>
            </a:r>
            <a:r>
              <a:rPr spc="49"/>
              <a:t> </a:t>
            </a:r>
            <a:r>
              <a:t>de</a:t>
            </a:r>
            <a:r>
              <a:rPr spc="233"/>
              <a:t> </a:t>
            </a:r>
            <a:r>
              <a:rPr spc="92"/>
              <a:t>Incertidumbre</a:t>
            </a:r>
          </a:p>
          <a:p>
            <a:pPr indent="635">
              <a:defRPr spc="92" sz="24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</a:p>
          <a:p>
            <a:pPr marL="541019" indent="-228600">
              <a:lnSpc>
                <a:spcPct val="200000"/>
              </a:lnSpc>
              <a:buClr>
                <a:srgbClr val="DBFFDF"/>
              </a:buClr>
              <a:buSzPct val="100000"/>
              <a:buChar char="•"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1000</a:t>
            </a:r>
            <a:r>
              <a:rPr spc="225"/>
              <a:t> </a:t>
            </a:r>
            <a:r>
              <a:t>trayectorias</a:t>
            </a:r>
            <a:r>
              <a:rPr spc="344"/>
              <a:t> </a:t>
            </a:r>
            <a:r>
              <a:rPr spc="-10"/>
              <a:t>simuladas</a:t>
            </a:r>
            <a:r>
              <a:rPr spc="229"/>
              <a:t> </a:t>
            </a:r>
            <a:r>
              <a:t>basadas</a:t>
            </a:r>
            <a:r>
              <a:rPr spc="195"/>
              <a:t> </a:t>
            </a:r>
            <a:r>
              <a:t>en</a:t>
            </a:r>
            <a:r>
              <a:rPr spc="-70"/>
              <a:t> </a:t>
            </a:r>
            <a:r>
              <a:t>la</a:t>
            </a:r>
            <a:r>
              <a:rPr spc="120"/>
              <a:t> </a:t>
            </a:r>
            <a:r>
              <a:rPr spc="-10"/>
              <a:t>volatilidad 	histórica.</a:t>
            </a:r>
          </a:p>
          <a:p>
            <a:pPr marL="539648" indent="-227226">
              <a:lnSpc>
                <a:spcPct val="200000"/>
              </a:lnSpc>
              <a:buClr>
                <a:srgbClr val="D1FFDD"/>
              </a:buClr>
              <a:buSzPct val="100000"/>
              <a:buChar char="•"/>
              <a:def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Confianza</a:t>
            </a:r>
            <a:r>
              <a:rPr b="0"/>
              <a:t>:</a:t>
            </a:r>
            <a:r>
              <a:rPr b="0" spc="-134"/>
              <a:t> </a:t>
            </a:r>
            <a:r>
              <a:rPr b="0" spc="-240"/>
              <a:t>El</a:t>
            </a:r>
            <a:r>
              <a:rPr b="0" spc="-24"/>
              <a:t> </a:t>
            </a:r>
            <a:r>
              <a:rPr b="0" spc="-219"/>
              <a:t>70 %</a:t>
            </a:r>
            <a:r>
              <a:rPr b="0" spc="-38"/>
              <a:t> </a:t>
            </a:r>
            <a:r>
              <a:rPr b="0"/>
              <a:t>de</a:t>
            </a:r>
            <a:r>
              <a:rPr b="0" spc="-172"/>
              <a:t> </a:t>
            </a:r>
            <a:r>
              <a:rPr b="0" spc="-96"/>
              <a:t>los</a:t>
            </a:r>
            <a:r>
              <a:rPr b="0" spc="-72"/>
              <a:t> </a:t>
            </a:r>
            <a:r>
              <a:rPr b="0"/>
              <a:t>datos</a:t>
            </a:r>
            <a:r>
              <a:rPr b="0" spc="-62"/>
              <a:t> reales</a:t>
            </a:r>
            <a:r>
              <a:rPr b="0" spc="-9"/>
              <a:t> </a:t>
            </a:r>
            <a:r>
              <a:rPr b="0" spc="-62"/>
              <a:t>cayeron</a:t>
            </a:r>
            <a:r>
              <a:rPr b="0" spc="-33"/>
              <a:t> </a:t>
            </a:r>
            <a:r>
              <a:rPr b="0"/>
              <a:t>dentro</a:t>
            </a:r>
            <a:r>
              <a:rPr b="0" spc="-81"/>
              <a:t> </a:t>
            </a:r>
            <a:r>
              <a:rPr b="0" spc="-24"/>
              <a:t>del </a:t>
            </a:r>
            <a:r>
              <a:rPr b="0"/>
              <a:t>intervalo</a:t>
            </a:r>
            <a:r>
              <a:rPr b="0" spc="55"/>
              <a:t> </a:t>
            </a:r>
            <a:r>
              <a:rPr b="0" spc="-95"/>
              <a:t>25-</a:t>
            </a:r>
            <a:r>
              <a:rPr b="0" spc="-25"/>
              <a:t>75%</a:t>
            </a:r>
          </a:p>
          <a:p>
            <a:pPr marL="535355" indent="-223570">
              <a:lnSpc>
                <a:spcPct val="200000"/>
              </a:lnSpc>
              <a:buSzPct val="100000"/>
              <a:buChar char="•"/>
              <a:defRPr b="1" spc="-72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Conclusión</a:t>
            </a:r>
            <a:r>
              <a:rPr b="0"/>
              <a:t>:</a:t>
            </a:r>
            <a:r>
              <a:rPr b="0" spc="-100"/>
              <a:t> </a:t>
            </a:r>
            <a:r>
              <a:rPr b="0" spc="-233"/>
              <a:t>El</a:t>
            </a:r>
            <a:r>
              <a:rPr b="0" spc="-14"/>
              <a:t> </a:t>
            </a:r>
            <a:r>
              <a:rPr b="0" spc="-9"/>
              <a:t>modelo</a:t>
            </a:r>
            <a:r>
              <a:rPr b="0" spc="-163"/>
              <a:t> </a:t>
            </a:r>
            <a:r>
              <a:rPr b="0" spc="-129"/>
              <a:t>es</a:t>
            </a:r>
            <a:r>
              <a:rPr b="0" spc="-38"/>
              <a:t> </a:t>
            </a:r>
            <a:r>
              <a:rPr b="0" spc="-67"/>
              <a:t>conservador,</a:t>
            </a:r>
            <a:r>
              <a:rPr b="0" spc="4"/>
              <a:t> </a:t>
            </a:r>
            <a:r>
              <a:rPr b="0" spc="-9"/>
              <a:t>ideal</a:t>
            </a:r>
            <a:r>
              <a:rPr b="0" spc="-100"/>
              <a:t> </a:t>
            </a:r>
            <a:r>
              <a:rPr b="0" spc="-19"/>
              <a:t>para planificación</a:t>
            </a:r>
            <a:r>
              <a:rPr b="0" spc="-52"/>
              <a:t> </a:t>
            </a:r>
            <a:r>
              <a:rPr b="0" spc="-9"/>
              <a:t>energética.</a:t>
            </a:r>
          </a:p>
        </p:txBody>
      </p:sp>
      <p:pic>
        <p:nvPicPr>
          <p:cNvPr id="142" name="Screenshot 2026-06-15 at 2.21.56 PM.png" descr="Screenshot 2026-06-15 at 2.21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2352" y="2225793"/>
            <a:ext cx="10130654" cy="79659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bject 2"/>
          <p:cNvSpPr txBox="1"/>
          <p:nvPr>
            <p:ph type="ctrTitle"/>
          </p:nvPr>
        </p:nvSpPr>
        <p:spPr>
          <a:xfrm>
            <a:off x="6466985" y="3362850"/>
            <a:ext cx="6955792" cy="1478283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 sz="9500"/>
            </a:lvl1pPr>
          </a:lstStyle>
          <a:p>
            <a:pPr/>
            <a:r>
              <a:t>¿Preguntas?</a:t>
            </a:r>
          </a:p>
        </p:txBody>
      </p:sp>
      <p:sp>
        <p:nvSpPr>
          <p:cNvPr id="145" name="object 3"/>
          <p:cNvSpPr/>
          <p:nvPr/>
        </p:nvSpPr>
        <p:spPr>
          <a:xfrm>
            <a:off x="6109761" y="5324445"/>
            <a:ext cx="7892431" cy="30627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object 4"/>
          <p:cNvSpPr txBox="1"/>
          <p:nvPr/>
        </p:nvSpPr>
        <p:spPr>
          <a:xfrm>
            <a:off x="6105395" y="5228144"/>
            <a:ext cx="788797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pc="-90" sz="25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Análisis</a:t>
            </a:r>
            <a:r>
              <a:rPr spc="-45"/>
              <a:t> </a:t>
            </a:r>
            <a:r>
              <a:rPr spc="0">
                <a:solidFill>
                  <a:srgbClr val="E9E9E9"/>
                </a:solidFill>
              </a:rPr>
              <a:t>de</a:t>
            </a:r>
            <a:r>
              <a:rPr spc="-160">
                <a:solidFill>
                  <a:srgbClr val="E9E9E9"/>
                </a:solidFill>
              </a:rPr>
              <a:t> s</a:t>
            </a:r>
            <a:r>
              <a:rPr spc="-104">
                <a:solidFill>
                  <a:srgbClr val="EBEBEB"/>
                </a:solidFill>
              </a:rPr>
              <a:t>eries</a:t>
            </a:r>
            <a:r>
              <a:rPr spc="-40">
                <a:solidFill>
                  <a:srgbClr val="EBEBEB"/>
                </a:solidFill>
              </a:rPr>
              <a:t> </a:t>
            </a:r>
            <a:r>
              <a:rPr spc="0">
                <a:solidFill>
                  <a:srgbClr val="E9E9E9"/>
                </a:solidFill>
              </a:rPr>
              <a:t>de</a:t>
            </a:r>
            <a:r>
              <a:rPr spc="-110">
                <a:solidFill>
                  <a:srgbClr val="E9E9E9"/>
                </a:solidFill>
              </a:rPr>
              <a:t> t</a:t>
            </a:r>
            <a:r>
              <a:rPr spc="0">
                <a:solidFill>
                  <a:srgbClr val="F6F6F6"/>
                </a:solidFill>
              </a:rPr>
              <a:t>iempo</a:t>
            </a:r>
            <a:r>
              <a:rPr spc="30">
                <a:solidFill>
                  <a:srgbClr val="F6F6F6"/>
                </a:solidFill>
              </a:rPr>
              <a:t> a</a:t>
            </a:r>
            <a:r>
              <a:rPr spc="-20">
                <a:solidFill>
                  <a:srgbClr val="EFEFEF"/>
                </a:solidFill>
              </a:rPr>
              <a:t>plicado</a:t>
            </a:r>
            <a:r>
              <a:rPr spc="-55">
                <a:solidFill>
                  <a:srgbClr val="EFEFEF"/>
                </a:solidFill>
              </a:rPr>
              <a:t> </a:t>
            </a:r>
            <a:r>
              <a:rPr spc="0">
                <a:solidFill>
                  <a:srgbClr val="EFEFEF"/>
                </a:solidFill>
              </a:rPr>
              <a:t>al</a:t>
            </a:r>
            <a:r>
              <a:rPr spc="-125">
                <a:solidFill>
                  <a:srgbClr val="EFEFEF"/>
                </a:solidFill>
              </a:rPr>
              <a:t> s</a:t>
            </a:r>
            <a:r>
              <a:rPr spc="-40">
                <a:solidFill>
                  <a:srgbClr val="F6F6F6"/>
                </a:solidFill>
              </a:rPr>
              <a:t>ector</a:t>
            </a:r>
            <a:r>
              <a:rPr>
                <a:solidFill>
                  <a:srgbClr val="F6F6F6"/>
                </a:solidFill>
              </a:rPr>
              <a:t> e</a:t>
            </a:r>
            <a:r>
              <a:rPr spc="-45">
                <a:solidFill>
                  <a:srgbClr val="EBEBEB"/>
                </a:solidFill>
              </a:rPr>
              <a:t>léctrico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